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pic>
        <p:nvPicPr>
          <p:cNvPr id="3" name="Picture 2" descr="Logo.png"/>
          <p:cNvPicPr>
            <a:picLocks noChangeAspect="1"/>
          </p:cNvPicPr>
          <p:nvPr/>
        </p:nvPicPr>
        <p:blipFill>
          <a:blip r:embed="rId2"/>
          <a:stretch>
            <a:fillRect/>
          </a:stretch>
        </p:blipFill>
        <p:spPr>
          <a:xfrm>
            <a:off x="914400" y="1371600"/>
            <a:ext cx="7315200" cy="502108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sp>
        <p:nvSpPr>
          <p:cNvPr id="3" name="Content Placeholder 2"/>
          <p:cNvSpPr>
            <a:spLocks noGrp="1"/>
          </p:cNvSpPr>
          <p:nvPr>
            <p:ph idx="1"/>
          </p:nvPr>
        </p:nvSpPr>
        <p:spPr/>
        <p:txBody>
          <a:bodyPr/>
          <a:lstStyle/>
          <a:p>
            <a:pPr/>
            <a:r>
              <a:rPr b="0" sz="1800"/>
              <a:t>AdFlux is a SaaS platform designed to democratize e-commerce for small and medium enterprises (SMEs) by centralizing and automating product publishing across multiple marketplaces.</a:t>
            </a:r>
          </a:p>
          <a:p>
            <a:pPr lvl="1"/>
            <a:r>
              <a:rPr b="1" sz="1800"/>
              <a:t>The Data-Backed Problem:</a:t>
            </a:r>
            <a:r>
              <a:rPr b="0" sz="1800"/>
              <a:t>Small and medium sellers face a significant operational bottleneck: the high effort required to manually create and manage ads across multiple platforms. This complexity scales dramatically; sellers operating on 4 or more marketplaces face 126% more operational challenges than single-channel sellers. Analysis of our target demographic reveals a critical bottleneck where manual ad creation is the single biggest operational hurdle.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pic>
        <p:nvPicPr>
          <p:cNvPr id="3" name="Picture 2" descr="Complexity.png"/>
          <p:cNvPicPr>
            <a:picLocks noChangeAspect="1"/>
          </p:cNvPicPr>
          <p:nvPr/>
        </p:nvPicPr>
        <p:blipFill>
          <a:blip r:embed="rId2"/>
          <a:stretch>
            <a:fillRect/>
          </a:stretch>
        </p:blipFill>
        <p:spPr>
          <a:xfrm>
            <a:off x="914400" y="1371600"/>
            <a:ext cx="7315200" cy="529155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a:t>
            </a:r>
          </a:p>
        </p:txBody>
      </p:sp>
      <p:sp>
        <p:nvSpPr>
          <p:cNvPr id="3" name="Content Placeholder 2"/>
          <p:cNvSpPr>
            <a:spLocks noGrp="1"/>
          </p:cNvSpPr>
          <p:nvPr>
            <p:ph idx="1"/>
          </p:nvPr>
        </p:nvSpPr>
        <p:spPr/>
        <p:txBody>
          <a:bodyPr/>
          <a:lstStyle/>
          <a:p>
            <a:pPr lvl="1"/>
            <a:r>
              <a:rPr b="1" sz="1800"/>
              <a:t>The AdFlux Solution:</a:t>
            </a:r>
            <a:r>
              <a:rPr b="0" sz="1800"/>
              <a:t>AdFlux provides a centralized "Command Center." Sellers create a listing once, and AdFlux intelligently distributes and synchronizes it across platforms. This automation saves time, reduces errors, and ensures consistency in product information.</a:t>
            </a:r>
          </a:p>
          <a:p>
            <a:pPr lvl="1"/>
            <a:r>
              <a:rPr b="1" sz="1800"/>
              <a:t>Market Validation:</a:t>
            </a:r>
            <a:r>
              <a:rPr b="0" sz="1800"/>
              <a:t>Our recent data analysis confirms high market readiness. We target the underserved SME segment —sellers who are too big for manual entry but too small for complex, enterprise ERPs. The solution is validated by the need to eliminate manual publishing.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Snapshot</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4114800"/>
                <a:gridCol w="4114800"/>
              </a:tblGrid>
              <a:tr h="1143000">
                <a:tc>
                  <a:txBody>
                    <a:bodyPr/>
                    <a:lstStyle/>
                    <a:p>
                      <a:r>
                        <a:t>Metric</a:t>
                      </a:r>
                    </a:p>
                  </a:txBody>
                  <a:tcPr/>
                </a:tc>
                <a:tc>
                  <a:txBody>
                    <a:bodyPr/>
                    <a:lstStyle/>
                    <a:p>
                      <a:r>
                        <a:t>Value</a:t>
                      </a:r>
                    </a:p>
                  </a:txBody>
                  <a:tcPr/>
                </a:tc>
              </a:tr>
              <a:tr h="1143000">
                <a:tc>
                  <a:txBody>
                    <a:bodyPr/>
                    <a:lstStyle/>
                    <a:p>
                      <a:r>
                        <a:t>Investment Required</a:t>
                      </a:r>
                    </a:p>
                  </a:txBody>
                  <a:tcPr/>
                </a:tc>
                <a:tc>
                  <a:txBody>
                    <a:bodyPr/>
                    <a:lstStyle/>
                    <a:p>
                      <a:r>
                        <a:t>€626,500</a:t>
                      </a:r>
                    </a:p>
                  </a:txBody>
                  <a:tcPr/>
                </a:tc>
              </a:tr>
              <a:tr h="1143000">
                <a:tc>
                  <a:txBody>
                    <a:bodyPr/>
                    <a:lstStyle/>
                    <a:p>
                      <a:r>
                        <a:t>Projected Annual Sales Growth</a:t>
                      </a:r>
                    </a:p>
                  </a:txBody>
                  <a:tcPr/>
                </a:tc>
                <a:tc>
                  <a:txBody>
                    <a:bodyPr/>
                    <a:lstStyle/>
                    <a:p>
                      <a:r>
                        <a:t>25%</a:t>
                      </a:r>
                    </a:p>
                  </a:txBody>
                  <a:tcPr/>
                </a:tc>
              </a:tr>
              <a:tr h="1143000">
                <a:tc>
                  <a:txBody>
                    <a:bodyPr/>
                    <a:lstStyle/>
                    <a:p>
                      <a:r>
                        <a:t>Return on Investment (ROI)</a:t>
                      </a:r>
                    </a:p>
                  </a:txBody>
                  <a:tcPr/>
                </a:tc>
                <a:tc>
                  <a:txBody>
                    <a:bodyPr/>
                    <a:lstStyle/>
                    <a:p>
                      <a:r>
                        <a:t>18% (Short Term), 52% (Long Term)</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Vision &amp; Values</a:t>
            </a:r>
          </a:p>
        </p:txBody>
      </p:sp>
      <p:sp>
        <p:nvSpPr>
          <p:cNvPr id="3" name="Content Placeholder 2"/>
          <p:cNvSpPr>
            <a:spLocks noGrp="1"/>
          </p:cNvSpPr>
          <p:nvPr>
            <p:ph idx="1"/>
          </p:nvPr>
        </p:nvSpPr>
        <p:spPr/>
        <p:txBody>
          <a:bodyPr/>
          <a:lstStyle/>
          <a:p>
            <a:pPr lvl="1"/>
            <a:r>
              <a:rPr b="1" sz="1800"/>
              <a:t>Vision:</a:t>
            </a:r>
            <a:r>
              <a:rPr b="0" sz="1800"/>
              <a:t>To become the global reference platform for multi-channel sales for SMEs, making publishing accessible on all marketplaces.</a:t>
            </a:r>
          </a:p>
          <a:p>
            <a:pPr lvl="1"/>
            <a:r>
              <a:rPr b="1" sz="1800"/>
              <a:t>Core Values:</a:t>
            </a:r>
          </a:p>
          <a:p>
            <a:pPr lvl="1"/>
            <a:r>
              <a:rPr b="0" sz="1800"/>
              <a:t/>
            </a:r>
            <a:r>
              <a:rPr b="1" sz="1800"/>
              <a:t>Simplicity:</a:t>
            </a:r>
            <a:r>
              <a:rPr b="0" sz="1800"/>
              <a:t>Making the complex easy to use.</a:t>
            </a:r>
          </a:p>
          <a:p>
            <a:pPr lvl="1"/>
            <a:r>
              <a:rPr b="0" sz="1800"/>
              <a:t/>
            </a:r>
            <a:r>
              <a:rPr b="1" sz="1800"/>
              <a:t>Efficiency:</a:t>
            </a:r>
            <a:r>
              <a:rPr b="0" sz="1800"/>
              <a:t>Reducing time and errors.</a:t>
            </a:r>
          </a:p>
          <a:p>
            <a:pPr lvl="1"/>
            <a:r>
              <a:rPr b="0" sz="1800"/>
              <a:t/>
            </a:r>
            <a:r>
              <a:rPr b="1" sz="1800"/>
              <a:t>Transparency:</a:t>
            </a:r>
            <a:r>
              <a:rPr b="0" sz="1800"/>
              <a:t>Clear communication on features and results.</a:t>
            </a:r>
          </a:p>
          <a:p>
            <a:pPr lvl="1"/>
            <a:r>
              <a:rPr b="0" sz="1800"/>
              <a:t/>
            </a:r>
            <a:r>
              <a:rPr b="1" sz="1800"/>
              <a:t>Customer Focus:</a:t>
            </a:r>
            <a:r>
              <a:rPr b="0" sz="1800"/>
              <a:t>Decisions born from real user needs.</a:t>
            </a:r>
          </a:p>
          <a:p>
            <a:pPr lvl="1"/>
            <a:r>
              <a:rPr b="0" sz="1800"/>
              <a:t/>
            </a:r>
            <a:r>
              <a:rPr b="1" sz="1800"/>
              <a:t>Strategic Partnerships:</a:t>
            </a:r>
            <a:r>
              <a:rPr b="0" sz="1800"/>
              <a:t>Building win-win relationships with marketplaces and ERPs.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2.2.1. Value Propositions</a:t>
            </a:r>
          </a:p>
        </p:txBody>
      </p:sp>
      <p:pic>
        <p:nvPicPr>
          <p:cNvPr id="3" name="Picture 2" descr="Challenges.png"/>
          <p:cNvPicPr>
            <a:picLocks noChangeAspect="1"/>
          </p:cNvPicPr>
          <p:nvPr/>
        </p:nvPicPr>
        <p:blipFill>
          <a:blip r:embed="rId2"/>
          <a:stretch>
            <a:fillRect/>
          </a:stretch>
        </p:blipFill>
        <p:spPr>
          <a:xfrm>
            <a:off x="914400" y="1371600"/>
            <a:ext cx="7315200" cy="349025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2.2.1. Value Propositions</a:t>
            </a:r>
          </a:p>
        </p:txBody>
      </p:sp>
      <p:sp>
        <p:nvSpPr>
          <p:cNvPr id="3" name="Content Placeholder 2"/>
          <p:cNvSpPr>
            <a:spLocks noGrp="1"/>
          </p:cNvSpPr>
          <p:nvPr>
            <p:ph idx="1"/>
          </p:nvPr>
        </p:nvSpPr>
        <p:spPr/>
        <p:txBody>
          <a:bodyPr/>
          <a:lstStyle/>
          <a:p>
            <a:pPr lvl="1"/>
            <a:r>
              <a:rPr b="0" sz="1800"/>
              <a:t>-</a:t>
            </a:r>
            <a:r>
              <a:rPr b="1" sz="1800"/>
              <a:t>Publish Once, Sell Everywhere:</a:t>
            </a:r>
            <a:r>
              <a:rPr b="0" sz="1800"/>
              <a:t>Save countless hours by creating a single product listing and publishing it across all your marketplaces (Amazon, eBay, etc.) with one click.</a:t>
            </a:r>
          </a:p>
          <a:p>
            <a:pPr lvl="1"/>
            <a:r>
              <a:rPr b="0" sz="1800"/>
              <a:t>-</a:t>
            </a:r>
            <a:r>
              <a:rPr b="1" sz="1800"/>
              <a:t>Eliminate Costly Errors:</a:t>
            </a:r>
            <a:r>
              <a:rPr b="0" sz="1800"/>
              <a:t>Automated synchronization of stock and product details means no more overselling or inconsistent information.</a:t>
            </a:r>
          </a:p>
          <a:p>
            <a:pPr lvl="1"/>
            <a:r>
              <a:rPr b="0" sz="1800"/>
              <a:t>-</a:t>
            </a:r>
            <a:r>
              <a:rPr b="1" sz="1800"/>
              <a:t>Unlock Growth Insights:</a:t>
            </a:r>
            <a:r>
              <a:rPr b="0" sz="1800"/>
              <a:t>Rated 4.05/5 in importance by surveyed sellers, our analytics dashboard breaks down sales performance by marketplace, empowering you to double down on what works.</a:t>
            </a:r>
          </a:p>
          <a:p>
            <a:pPr lvl="1"/>
            <a:r>
              <a:rPr b="0" sz="1800"/>
              <a:t>-</a:t>
            </a:r>
            <a:r>
              <a:rPr b="1" sz="1800"/>
              <a:t>Built for You:</a:t>
            </a:r>
            <a:r>
              <a:rPr b="0" sz="1800"/>
              <a:t>We are not a complicated enterprise tool. AdFlux is a lightweight, intuitive platform designed specifically for the needs of small and medium sellers.</a:t>
            </a:r>
          </a:p>
          <a:p>
            <a:pPr lvl="1"/>
            <a:r>
              <a:rPr b="0" sz="1800"/>
              <a:t>-</a:t>
            </a:r>
            <a:r>
              <a:rPr b="1" sz="1800"/>
              <a:t>Unified Customer Messaging:</a:t>
            </a:r>
            <a:r>
              <a:rPr b="0" sz="1800"/>
              <a:t>35% of sellers struggle with fragmented communications. AdFlux consolidates messages from OLX, Facebook, and Amazon into a single inbox, ensuring no customer query is lost.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2.2.2. Customer Segments</a:t>
            </a:r>
          </a:p>
        </p:txBody>
      </p:sp>
      <p:sp>
        <p:nvSpPr>
          <p:cNvPr id="3" name="Content Placeholder 2"/>
          <p:cNvSpPr>
            <a:spLocks noGrp="1"/>
          </p:cNvSpPr>
          <p:nvPr>
            <p:ph idx="1"/>
          </p:nvPr>
        </p:nvSpPr>
        <p:spPr/>
        <p:txBody>
          <a:bodyPr/>
          <a:lstStyle/>
          <a:p>
            <a:pPr lvl="1"/>
            <a:r>
              <a:rPr b="0" sz="1800"/>
              <a:t>-</a:t>
            </a:r>
            <a:r>
              <a:rPr b="1" sz="1800"/>
              <a:t>Core Target:</a:t>
            </a:r>
            <a:r>
              <a:rPr b="0" sz="1800"/>
              <a:t>Small &amp; Medium online sellers.</a:t>
            </a:r>
          </a:p>
          <a:p>
            <a:pPr lvl="1"/>
            <a:r>
              <a:rPr b="0" sz="1800"/>
              <a:t>-</a:t>
            </a:r>
            <a:r>
              <a:rPr b="1" sz="1800"/>
              <a:t>Growth Segment:</a:t>
            </a:r>
            <a:r>
              <a:rPr b="0" sz="1800"/>
              <a:t>Independent e-commerce brands expanding to marketplaces.</a:t>
            </a:r>
          </a:p>
          <a:p>
            <a:pPr lvl="1"/>
            <a:r>
              <a:rPr b="0" sz="1800"/>
              <a:t>-</a:t>
            </a:r>
            <a:r>
              <a:rPr b="1" sz="1800"/>
              <a:t>Niche Markets:</a:t>
            </a:r>
            <a:r>
              <a:rPr b="0" sz="1800"/>
              <a:t>Sellers of collectibles or handmade items (Etsy) scaling to Amazon/eBay.</a:t>
            </a:r>
          </a:p>
          <a:p>
            <a:pPr lvl="1"/>
            <a:r>
              <a:rPr b="0" sz="1800"/>
              <a:t>-</a:t>
            </a:r>
            <a:r>
              <a:rPr b="1" sz="1800"/>
              <a:t>Partners:</a:t>
            </a:r>
            <a:r>
              <a:rPr b="0" sz="1800"/>
              <a:t>Agencies managing listings for multiple SMB sellers.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2.2.3. Key Activities &amp; Resources</a:t>
            </a:r>
          </a:p>
        </p:txBody>
      </p:sp>
      <p:sp>
        <p:nvSpPr>
          <p:cNvPr id="3" name="Content Placeholder 2"/>
          <p:cNvSpPr>
            <a:spLocks noGrp="1"/>
          </p:cNvSpPr>
          <p:nvPr>
            <p:ph idx="1"/>
          </p:nvPr>
        </p:nvSpPr>
        <p:spPr/>
        <p:txBody>
          <a:bodyPr/>
          <a:lstStyle/>
          <a:p>
            <a:pPr lvl="1"/>
            <a:r>
              <a:rPr b="0" sz="1800"/>
              <a:t>-</a:t>
            </a:r>
            <a:r>
              <a:rPr b="1" sz="1800"/>
              <a:t>Development:</a:t>
            </a:r>
            <a:r>
              <a:rPr b="0" sz="1800"/>
              <a:t>Building and maintaining robust API integrations (critical for platform stability).</a:t>
            </a:r>
          </a:p>
          <a:p>
            <a:pPr lvl="1"/>
            <a:r>
              <a:rPr b="0" sz="1800"/>
              <a:t>-</a:t>
            </a:r>
            <a:r>
              <a:rPr b="1" sz="1800"/>
              <a:t>Data:</a:t>
            </a:r>
            <a:r>
              <a:rPr b="0" sz="1800"/>
              <a:t>Developing an analytics engine to provide market trend insights.</a:t>
            </a:r>
          </a:p>
          <a:p>
            <a:pPr lvl="1"/>
            <a:r>
              <a:rPr b="0" sz="1800"/>
              <a:t>-</a:t>
            </a:r>
            <a:r>
              <a:rPr b="1" sz="1800"/>
              <a:t>Infrastructure:</a:t>
            </a:r>
            <a:r>
              <a:rPr b="0" sz="1800"/>
              <a:t>Managing cloud hosting via providers like AWS, GCP, or Azure.</a:t>
            </a:r>
          </a:p>
          <a:p>
            <a:pPr lvl="1"/>
            <a:r>
              <a:rPr b="0" sz="1800"/>
              <a:t>-</a:t>
            </a:r>
            <a:r>
              <a:rPr b="1" sz="1800"/>
              <a:t>Human Capital:</a:t>
            </a:r>
            <a:r>
              <a:rPr b="0" sz="1800"/>
              <a:t>Developers, data engineers, and customer success teams.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2.2.4. Revenue Streams</a:t>
            </a:r>
          </a:p>
        </p:txBody>
      </p:sp>
      <p:sp>
        <p:nvSpPr>
          <p:cNvPr id="3" name="Content Placeholder 2"/>
          <p:cNvSpPr>
            <a:spLocks noGrp="1"/>
          </p:cNvSpPr>
          <p:nvPr>
            <p:ph idx="1"/>
          </p:nvPr>
        </p:nvSpPr>
        <p:spPr/>
        <p:txBody>
          <a:bodyPr/>
          <a:lstStyle/>
          <a:p>
            <a:pPr lvl="1"/>
            <a:r>
              <a:rPr b="0" sz="1800"/>
              <a:t>-</a:t>
            </a:r>
            <a:r>
              <a:rPr b="1" sz="1800"/>
              <a:t>Subscription Fees:</a:t>
            </a:r>
            <a:r>
              <a:rPr b="0" sz="1800"/>
              <a:t>Tiered pricing based on the number of listings or active features for our SME customers.</a:t>
            </a:r>
          </a:p>
          <a:p>
            <a:pPr lvl="1"/>
            <a:r>
              <a:rPr b="0" sz="1800"/>
              <a:t>-</a:t>
            </a:r>
            <a:r>
              <a:rPr b="1" sz="1800"/>
              <a:t>Usage Fees:</a:t>
            </a:r>
            <a:r>
              <a:rPr b="0" sz="1800"/>
              <a:t>Add-ons for advanced analytics or bulk uploads.</a:t>
            </a:r>
          </a:p>
          <a:p>
            <a:pPr lvl="1"/>
            <a:r>
              <a:rPr b="0" sz="1800"/>
              <a:t>-</a:t>
            </a:r>
            <a:r>
              <a:rPr b="1" sz="1800"/>
              <a:t>Partnerships:</a:t>
            </a:r>
            <a:r>
              <a:rPr b="0" sz="1800"/>
              <a:t>Revenue from referrals and integrations with ERPs.</a:t>
            </a:r>
          </a:p>
          <a:p>
            <a:pPr lvl="1"/>
            <a:r>
              <a:rPr b="0" sz="1800"/>
              <a:t>-</a:t>
            </a:r>
            <a:r>
              <a:rPr b="1" sz="1800"/>
              <a:t>Enterprise Partnership (Shared Success Model):</a:t>
            </a:r>
            <a:r>
              <a:rPr b="0" sz="1800"/>
              <a:t>In our second phase, revenue will be generated from a share of sales from our large enterprise partner, creating a long-term, mutually beneficial relationship.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Target Audience &amp; Segmentation</a:t>
            </a:r>
          </a:p>
        </p:txBody>
      </p:sp>
      <p:sp>
        <p:nvSpPr>
          <p:cNvPr id="3" name="Content Placeholder 2"/>
          <p:cNvSpPr>
            <a:spLocks noGrp="1"/>
          </p:cNvSpPr>
          <p:nvPr>
            <p:ph idx="1"/>
          </p:nvPr>
        </p:nvSpPr>
        <p:spPr/>
        <p:txBody>
          <a:bodyPr/>
          <a:lstStyle/>
          <a:p>
            <a:pPr/>
            <a:r>
              <a:rPr b="0" sz="1800"/>
              <a:t>Data analysis reveals two primary segments within the SME market:</a:t>
            </a:r>
          </a:p>
          <a:p>
            <a:pPr lvl="1"/>
            <a:r>
              <a:rPr b="1" sz="1800"/>
              <a:t>Segment A: The "Emerging" Seller (85% of market)</a:t>
            </a:r>
          </a:p>
          <a:p>
            <a:pPr lvl="1"/>
            <a:r>
              <a:rPr b="0" sz="1800"/>
              <a:t/>
            </a:r>
            <a:r>
              <a:rPr b="1" sz="1800"/>
              <a:t>Profile:</a:t>
            </a:r>
            <a:r>
              <a:rPr b="0" sz="1800"/>
              <a:t>Less than 3 years of experience; catalog of fewer than 10 products.</a:t>
            </a:r>
          </a:p>
          <a:p>
            <a:pPr lvl="1"/>
            <a:r>
              <a:rPr b="0" sz="1800"/>
              <a:t/>
            </a:r>
            <a:r>
              <a:rPr b="1" sz="1800"/>
              <a:t>Needs:</a:t>
            </a:r>
            <a:r>
              <a:rPr b="0" sz="1800"/>
              <a:t>Simple onboarding and educational content to overcome the "learning curve".</a:t>
            </a:r>
          </a:p>
          <a:p>
            <a:pPr lvl="1"/>
            <a:r>
              <a:rPr b="1" sz="1800"/>
              <a:t>Segment B: The "Power User" (15% of market)</a:t>
            </a:r>
          </a:p>
          <a:p>
            <a:pPr lvl="1"/>
            <a:r>
              <a:rPr b="0" sz="1800"/>
              <a:t/>
            </a:r>
            <a:r>
              <a:rPr b="1" sz="1800"/>
              <a:t>Profile:</a:t>
            </a:r>
            <a:r>
              <a:rPr b="0" sz="1800"/>
              <a:t>Spends 10+ hours/week managing listings; uses 3+ marketplaces.</a:t>
            </a:r>
          </a:p>
          <a:p>
            <a:pPr lvl="1"/>
            <a:r>
              <a:rPr b="0" sz="1800"/>
              <a:t/>
            </a:r>
            <a:r>
              <a:rPr b="1" sz="1800"/>
              <a:t>Behavior:</a:t>
            </a:r>
            <a:r>
              <a:rPr b="0" sz="1800"/>
              <a:t>This segment showed a 5.0/5.0 interest score in automation features. They are the ideal "Early Adopters" and brand embassadors.![Interess](Images/Interess.png)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Marketing Mix</a:t>
            </a:r>
          </a:p>
        </p:txBody>
      </p:sp>
      <p:sp>
        <p:nvSpPr>
          <p:cNvPr id="3" name="Content Placeholder 2"/>
          <p:cNvSpPr>
            <a:spLocks noGrp="1"/>
          </p:cNvSpPr>
          <p:nvPr>
            <p:ph idx="1"/>
          </p:nvPr>
        </p:nvSpPr>
        <p:spPr/>
        <p:txBody>
          <a:bodyPr/>
          <a:lstStyle/>
          <a:p>
            <a:pPr lvl="1"/>
            <a:r>
              <a:rPr b="0" sz="1800"/>
              <a:t/>
            </a:r>
            <a:r>
              <a:rPr b="1" sz="1800"/>
              <a:t>Product:</a:t>
            </a:r>
            <a:r>
              <a:rPr b="0" sz="1800"/>
              <a:t>Prioritize the "Product Publisher" and "Stock Sync" features, as these address the top two user complaints (manual entry and stock errors).</a:t>
            </a:r>
          </a:p>
          <a:p>
            <a:pPr lvl="1"/>
            <a:r>
              <a:rPr b="0" sz="1800"/>
              <a:t/>
            </a:r>
            <a:r>
              <a:rPr b="1" sz="1800"/>
              <a:t>Price:</a:t>
            </a:r>
          </a:p>
          <a:p>
            <a:pPr lvl="1"/>
            <a:r>
              <a:rPr b="0" sz="1800"/>
              <a:t>Subscription (SaaS) model for recurring revenue.</a:t>
            </a:r>
          </a:p>
          <a:p>
            <a:pPr lvl="1"/>
            <a:r>
              <a:rPr b="0" sz="1800"/>
              <a:t>Tiered pricing (Freemium/Basic/Pro) to allow scalability from small catalogs to large inventories.</a:t>
            </a:r>
          </a:p>
          <a:p>
            <a:pPr lvl="1"/>
            <a:r>
              <a:rPr b="0" sz="1800"/>
              <a:t/>
            </a:r>
            <a:r>
              <a:rPr b="1" sz="1800"/>
              <a:t>Growth-Driven Upsell:</a:t>
            </a:r>
            <a:r>
              <a:rPr b="0" sz="1800"/>
              <a:t>Data confirms that 99% of sellers with &gt;5 years of experience manage catalogues of 10-200+ products. This validates our tiered model: we capture the 85% of beginners with low entry pricing, and revenue naturally scales as they grow into "Power Users."</a:t>
            </a:r>
          </a:p>
          <a:p>
            <a:pPr lvl="1"/>
            <a:r>
              <a:rPr b="0" sz="1800"/>
              <a:t/>
            </a:r>
            <a:r>
              <a:rPr b="1" sz="1800"/>
              <a:t>Place (Distribution):</a:t>
            </a:r>
          </a:p>
          <a:p>
            <a:pPr lvl="1"/>
            <a:r>
              <a:rPr b="0" sz="1800"/>
              <a:t>Self-service online platform (24/7 access).</a:t>
            </a:r>
          </a:p>
          <a:p>
            <a:pPr lvl="1"/>
            <a:r>
              <a:rPr b="0" sz="1800"/>
              <a:t>Distribution via partners (ERPs, agencies).</a:t>
            </a:r>
          </a:p>
          <a:p>
            <a:pPr lvl="1"/>
            <a:r>
              <a:rPr b="0" sz="1800"/>
              <a:t/>
            </a:r>
            <a:r>
              <a:rPr b="1" sz="1800"/>
              <a:t>Promotion:</a:t>
            </a:r>
          </a:p>
          <a:p>
            <a:pPr lvl="1"/>
            <a:r>
              <a:rPr b="0" sz="1800"/>
              <a:t/>
            </a:r>
            <a:r>
              <a:rPr b="1" sz="1800"/>
              <a:t>Build Trust and Educate:</a:t>
            </a:r>
            <a:r>
              <a:rPr b="0" sz="1800"/>
              <a:t>Address our weakness of "Limited Brand Recognition" and the threat of "Customer Resistance" through a strong content marketing strategy. This will include case studies, tutorials, and webinars that demonstrate the clear ROI of AdFlux.</a:t>
            </a:r>
          </a:p>
          <a:p>
            <a:pPr lvl="1"/>
            <a:r>
              <a:rPr b="0" sz="1800"/>
              <a:t/>
            </a:r>
            <a:r>
              <a:rPr b="1" sz="1800"/>
              <a:t>Targeted Digital Advertising:</a:t>
            </a:r>
            <a:r>
              <a:rPr b="0" sz="1800"/>
              <a:t>Use Google Ads and social media to target keywords like "marketplace automation" and "multi-channel selling for small business."</a:t>
            </a:r>
          </a:p>
          <a:p>
            <a:pPr lvl="1"/>
            <a:r>
              <a:rPr b="0" sz="1800"/>
              <a:t/>
            </a:r>
            <a:r>
              <a:rPr b="1" sz="1800"/>
              <a:t>Partnerships:</a:t>
            </a:r>
            <a:r>
              <a:rPr b="0" sz="1800"/>
              <a:t>Leverage our partnerships with ERPs and agencies as a key promotional channel, as noted in our Opportunities.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Market Insights &amp; Validation</a:t>
            </a:r>
          </a:p>
        </p:txBody>
      </p:sp>
      <p:sp>
        <p:nvSpPr>
          <p:cNvPr id="3" name="Content Placeholder 2"/>
          <p:cNvSpPr>
            <a:spLocks noGrp="1"/>
          </p:cNvSpPr>
          <p:nvPr>
            <p:ph idx="1"/>
          </p:nvPr>
        </p:nvSpPr>
        <p:spPr/>
        <p:txBody>
          <a:bodyPr/>
          <a:lstStyle/>
          <a:p>
            <a:pPr/>
            <a:r>
              <a:rPr b="0" sz="1800"/>
              <a:t>Direct survey data from 20 sellers in our target segment validates a strong product-market fit:</a:t>
            </a:r>
          </a:p>
          <a:p>
            <a:pPr lvl="1"/>
            <a:r>
              <a:rPr b="0" sz="1800"/>
              <a:t/>
            </a:r>
            <a:r>
              <a:rPr b="1" sz="1800"/>
              <a:t>Amazon's Marketplace Dominance:</a:t>
            </a:r>
            <a:r>
              <a:rPr b="0" sz="1800"/>
              <a:t>A staggering 85% of sellers use Amazon. However, our research shows this isn't just about direct selling; it's about leveraging the marketplace for visibility and reaching its vast user base. This confirms that a robust Amazon API integration is the most critical feature for our MVP, serving needs from sales to competitive research.</a:t>
            </a:r>
          </a:p>
          <a:p>
            <a:pPr lvl="1"/>
            <a:r>
              <a:rPr b="0" sz="1800"/>
              <a:t/>
            </a:r>
            <a:r>
              <a:rPr b="1" sz="1800"/>
              <a:t>The Power of Local:</a:t>
            </a:r>
            <a:r>
              <a:rPr b="0" sz="1800"/>
              <a:t>In the Portuguese market, global solutions fall short. 35% of our surveyed sellers use OLX and 30% use Facebook Marketplace. By integrating these local champions, AdFlux gains an immediate, decisive competitive advantage.![Marketplaces](/Images/Marketplaces.png)</a:t>
            </a:r>
          </a:p>
          <a:p>
            <a:pPr lvl="1"/>
            <a:r>
              <a:rPr b="0" sz="1800"/>
              <a:t/>
            </a:r>
            <a:r>
              <a:rPr b="1" sz="1800"/>
              <a:t>Validated Pain Points:</a:t>
            </a:r>
          </a:p>
          <a:p>
            <a:pPr lvl="1"/>
            <a:r>
              <a:rPr b="0" sz="1800"/>
              <a:t/>
            </a:r>
            <a:r>
              <a:rPr b="1" sz="1800"/>
              <a:t>The Manual Entry Grind:</a:t>
            </a:r>
            <a:r>
              <a:rPr b="0" sz="1800"/>
              <a:t>45% of sellers are bogged down by manually listing new products. Their stated interest in an automation solution is exceptionally high at 4.73 out of 5.</a:t>
            </a:r>
          </a:p>
          <a:p>
            <a:pPr lvl="1"/>
            <a:r>
              <a:rPr b="0" sz="1800"/>
              <a:t/>
            </a:r>
            <a:r>
              <a:rPr b="1" sz="1800"/>
              <a:t>The Stock Sync Nightmare:</a:t>
            </a:r>
            <a:r>
              <a:rPr b="0" sz="1800"/>
              <a:t>35% struggle with keeping stock levels updated across different platforms, another major operational headache. Interest in solving this is also high, at 4.71 out of 5.</a:t>
            </a:r>
          </a:p>
          <a:p>
            <a:pPr lvl="1"/>
            <a:r>
              <a:rPr b="0" sz="1800"/>
              <a:t/>
            </a:r>
            <a:r>
              <a:rPr b="1" sz="1800"/>
              <a:t>Scale vs. Complexity:</a:t>
            </a:r>
            <a:r>
              <a:rPr b="0" sz="1800"/>
              <a:t>Our data proves that complexity scales non-linearly, this means that sellers operating on 4 or more marketplaces face 126% (3.67 - 1.62 / 1.62) more operational challenges than single-channel sellers. This means that complexity increases a lot when trying to scale.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Analysis of Competition</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057400"/>
                <a:gridCol w="2057400"/>
                <a:gridCol w="2057400"/>
                <a:gridCol w="2057400"/>
              </a:tblGrid>
              <a:tr h="914400">
                <a:tc>
                  <a:txBody>
                    <a:bodyPr/>
                    <a:lstStyle/>
                    <a:p>
                      <a:r>
                        <a:t>Competitor</a:t>
                      </a:r>
                    </a:p>
                  </a:txBody>
                  <a:tcPr/>
                </a:tc>
                <a:tc>
                  <a:txBody>
                    <a:bodyPr/>
                    <a:lstStyle/>
                    <a:p>
                      <a:r>
                        <a:t>Target Audience</a:t>
                      </a:r>
                    </a:p>
                  </a:txBody>
                  <a:tcPr/>
                </a:tc>
                <a:tc>
                  <a:txBody>
                    <a:bodyPr/>
                    <a:lstStyle/>
                    <a:p>
                      <a:r>
                        <a:t>Key Weakness for AdFlux to Exploit</a:t>
                      </a:r>
                    </a:p>
                  </a:txBody>
                  <a:tcPr/>
                </a:tc>
                <a:tc>
                  <a:txBody>
                    <a:bodyPr/>
                    <a:lstStyle/>
                    <a:p>
                      <a:r>
                        <a:t>Notes</a:t>
                      </a:r>
                    </a:p>
                  </a:txBody>
                  <a:tcPr/>
                </a:tc>
              </a:tr>
              <a:tr h="914400">
                <a:tc>
                  <a:txBody>
                    <a:bodyPr/>
                    <a:lstStyle/>
                    <a:p>
                      <a:r>
                        <a:t>Plugg.to</a:t>
                      </a:r>
                    </a:p>
                  </a:txBody>
                  <a:tcPr/>
                </a:tc>
                <a:tc>
                  <a:txBody>
                    <a:bodyPr/>
                    <a:lstStyle/>
                    <a:p>
                      <a:r>
                        <a:t>Mid to Large businesses</a:t>
                      </a:r>
                    </a:p>
                  </a:txBody>
                  <a:tcPr/>
                </a:tc>
                <a:tc>
                  <a:txBody>
                    <a:bodyPr/>
                    <a:lstStyle/>
                    <a:p>
                      <a:r>
                        <a:t>Complex interface, higher price point.</a:t>
                      </a:r>
                    </a:p>
                  </a:txBody>
                  <a:tcPr/>
                </a:tc>
                <a:tc>
                  <a:txBody>
                    <a:bodyPr/>
                    <a:lstStyle/>
                    <a:p>
                      <a:r>
                        <a:t>Focused on larger clients, leaving a gap for an SME-focused solution.</a:t>
                      </a:r>
                    </a:p>
                  </a:txBody>
                  <a:tcPr/>
                </a:tc>
              </a:tr>
              <a:tr h="914400">
                <a:tc>
                  <a:txBody>
                    <a:bodyPr/>
                    <a:lstStyle/>
                    <a:p>
                      <a:r>
                        <a:t>Olist</a:t>
                      </a:r>
                    </a:p>
                  </a:txBody>
                  <a:tcPr/>
                </a:tc>
                <a:tc>
                  <a:txBody>
                    <a:bodyPr/>
                    <a:lstStyle/>
                    <a:p>
                      <a:r>
                        <a:t>All sizes</a:t>
                      </a:r>
                    </a:p>
                  </a:txBody>
                  <a:tcPr/>
                </a:tc>
                <a:tc>
                  <a:txBody>
                    <a:bodyPr/>
                    <a:lstStyle/>
                    <a:p>
                      <a:r>
                        <a:t>Acts as an intermediary, taking a cut of sales.</a:t>
                      </a:r>
                    </a:p>
                  </a:txBody>
                  <a:tcPr/>
                </a:tc>
                <a:tc>
                  <a:txBody>
                    <a:bodyPr/>
                    <a:lstStyle/>
                    <a:p>
                      <a:r>
                        <a:t>AdFlux's SaaS model offers better margins for sellers.</a:t>
                      </a:r>
                    </a:p>
                  </a:txBody>
                  <a:tcPr/>
                </a:tc>
              </a:tr>
              <a:tr h="914400">
                <a:tc>
                  <a:txBody>
                    <a:bodyPr/>
                    <a:lstStyle/>
                    <a:p>
                      <a:r>
                        <a:t>AnyMarket</a:t>
                      </a:r>
                    </a:p>
                  </a:txBody>
                  <a:tcPr/>
                </a:tc>
                <a:tc>
                  <a:txBody>
                    <a:bodyPr/>
                    <a:lstStyle/>
                    <a:p>
                      <a:r>
                        <a:t>Enterprise-level</a:t>
                      </a:r>
                    </a:p>
                  </a:txBody>
                  <a:tcPr/>
                </a:tc>
                <a:tc>
                  <a:txBody>
                    <a:bodyPr/>
                    <a:lstStyle/>
                    <a:p>
                      <a:r>
                        <a:t>High implementation cost and complexity.</a:t>
                      </a:r>
                    </a:p>
                  </a:txBody>
                  <a:tcPr/>
                </a:tc>
                <a:tc>
                  <a:txBody>
                    <a:bodyPr/>
                    <a:lstStyle/>
                    <a:p>
                      <a:r>
                        <a:t>Not a viable option for the small and medium sellers AdFlux is targeting.</a:t>
                      </a:r>
                    </a:p>
                  </a:txBody>
                  <a:tcPr/>
                </a:tc>
              </a:tr>
              <a:tr h="914400">
                <a:tc>
                  <a:txBody>
                    <a:bodyPr/>
                    <a:lstStyle/>
                    <a:p>
                      <a:r>
                        <a:t>Rithum</a:t>
                      </a:r>
                    </a:p>
                  </a:txBody>
                  <a:tcPr/>
                </a:tc>
                <a:tc>
                  <a:txBody>
                    <a:bodyPr/>
                    <a:lstStyle/>
                    <a:p>
                      <a:r>
                        <a:t>Enterprise-level</a:t>
                      </a:r>
                    </a:p>
                  </a:txBody>
                  <a:tcPr/>
                </a:tc>
                <a:tc>
                  <a:txBody>
                    <a:bodyPr/>
                    <a:lstStyle/>
                    <a:p>
                      <a:r>
                        <a:t>Complex and costly for SMEs.</a:t>
                      </a:r>
                    </a:p>
                  </a:txBody>
                  <a:tcPr/>
                </a:tc>
                <a:tc>
                  <a:txBody>
                    <a:bodyPr/>
                    <a:lstStyle/>
                    <a:p>
                      <a:r>
                        <a:t>Formerly CommerceHub/ChannelAdvisor, focuses on large enterprises, creating a gap for a lightweight SME solution.</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Analysis of Competition</a:t>
            </a:r>
          </a:p>
        </p:txBody>
      </p:sp>
      <p:sp>
        <p:nvSpPr>
          <p:cNvPr id="3" name="Content Placeholder 2"/>
          <p:cNvSpPr>
            <a:spLocks noGrp="1"/>
          </p:cNvSpPr>
          <p:nvPr>
            <p:ph idx="1"/>
          </p:nvPr>
        </p:nvSpPr>
        <p:spPr/>
        <p:txBody>
          <a:bodyPr/>
          <a:lstStyle/>
          <a:p>
            <a:pPr lvl="1"/>
            <a:r>
              <a:rPr b="1" sz="1800"/>
              <a:t>AdFlux's Strategic Position:</a:t>
            </a:r>
            <a:r>
              <a:rPr b="0" sz="1800"/>
              <a:t>We are not just another tool. We are positioned to fill the "Innovation Gap" for SMEs. While competitors like</a:t>
            </a:r>
            <a:r>
              <a:rPr b="1" sz="1800"/>
              <a:t>Plugg.to</a:t>
            </a:r>
            <a:r>
              <a:rPr b="0" sz="1800"/>
              <a:t>,</a:t>
            </a:r>
            <a:r>
              <a:rPr b="1" sz="1800"/>
              <a:t>Olist</a:t>
            </a:r>
            <a:r>
              <a:rPr b="0" sz="1800"/>
              <a:t>,</a:t>
            </a:r>
            <a:r>
              <a:rPr b="1" sz="1800"/>
              <a:t>AnyMarket</a:t>
            </a:r>
            <a:r>
              <a:rPr b="0" sz="1800"/>
              <a:t>, and</a:t>
            </a:r>
            <a:r>
              <a:rPr b="1" sz="1800"/>
              <a:t>Rithum</a:t>
            </a:r>
            <a:r>
              <a:rPr b="0" sz="1800"/>
              <a:t>focus on larger enterprises or different business models, AdFlux offers a lightweight, user-friendly, and affordable solution specifically designed for the needs of small to medium businesses. We win on simplicity, focus, and by providing a clear ROI to an underserved market segment.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SWOT Analysis</a:t>
            </a:r>
          </a:p>
        </p:txBody>
      </p:sp>
      <p:pic>
        <p:nvPicPr>
          <p:cNvPr id="3" name="Picture 2" descr="SWOT.png"/>
          <p:cNvPicPr>
            <a:picLocks noChangeAspect="1"/>
          </p:cNvPicPr>
          <p:nvPr/>
        </p:nvPicPr>
        <p:blipFill>
          <a:blip r:embed="rId2"/>
          <a:stretch>
            <a:fillRect/>
          </a:stretch>
        </p:blipFill>
        <p:spPr>
          <a:xfrm>
            <a:off x="914400" y="1371600"/>
            <a:ext cx="7315200" cy="676543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Organizational Plan</a:t>
            </a:r>
          </a:p>
        </p:txBody>
      </p:sp>
      <p:sp>
        <p:nvSpPr>
          <p:cNvPr id="3" name="Content Placeholder 2"/>
          <p:cNvSpPr>
            <a:spLocks noGrp="1"/>
          </p:cNvSpPr>
          <p:nvPr>
            <p:ph idx="1"/>
          </p:nvPr>
        </p:nvSpPr>
        <p:spPr/>
        <p:txBody>
          <a:bodyPr/>
          <a:lstStyle/>
          <a:p>
            <a:pPr/>
            <a:r>
              <a:rPr b="0" sz="1800"/>
              <a:t>The organizational structure serves as an instrument for coordinating activities and controlling the actions of AdFlux's members. It defines how human resources are distributed and managed, establishes formal communication and decision-making channels, and supports talent attraction, retention, and development.</a:t>
            </a:r>
          </a:p>
          <a:p>
            <a:pPr lvl="1"/>
            <a:r>
              <a:rPr b="1" sz="1800"/>
              <a:t>Elements Influencing Organizational Design:</a:t>
            </a:r>
          </a:p>
          <a:p>
            <a:pPr lvl="1"/>
            <a:r>
              <a:rPr b="0" sz="1800"/>
              <a:t/>
            </a:r>
            <a:r>
              <a:rPr b="1" sz="1800"/>
              <a:t>Company Objectives:</a:t>
            </a:r>
            <a:r>
              <a:rPr b="0" sz="1800"/>
              <a:t>Rapid market entry, scalability, and customer satisfaction</a:t>
            </a:r>
          </a:p>
          <a:p>
            <a:pPr lvl="1"/>
            <a:r>
              <a:rPr b="0" sz="1800"/>
              <a:t/>
            </a:r>
            <a:r>
              <a:rPr b="1" sz="1800"/>
              <a:t>Strategy:</a:t>
            </a:r>
            <a:r>
              <a:rPr b="0" sz="1800"/>
              <a:t>Focus on innovation, agility, and customer-centricity</a:t>
            </a:r>
          </a:p>
          <a:p>
            <a:pPr lvl="1"/>
            <a:r>
              <a:rPr b="0" sz="1800"/>
              <a:t/>
            </a:r>
            <a:r>
              <a:rPr b="1" sz="1800"/>
              <a:t>Technology:</a:t>
            </a:r>
            <a:r>
              <a:rPr b="0" sz="1800"/>
              <a:t>Cloud-based SaaS platform requiring API expertise and DevOps capabilities</a:t>
            </a:r>
          </a:p>
          <a:p>
            <a:pPr lvl="1"/>
            <a:r>
              <a:rPr b="0" sz="1800"/>
              <a:t/>
            </a:r>
            <a:r>
              <a:rPr b="1" sz="1800"/>
              <a:t>Size:</a:t>
            </a:r>
            <a:r>
              <a:rPr b="0" sz="1800"/>
              <a:t>Startup phase (18 employees initially, scaling to 30+ by Year 2)</a:t>
            </a:r>
          </a:p>
          <a:p>
            <a:pPr lvl="1"/>
            <a:r>
              <a:rPr b="0" sz="1800"/>
              <a:t/>
            </a:r>
            <a:r>
              <a:rPr b="1" sz="1800"/>
              <a:t>Environment:</a:t>
            </a:r>
            <a:r>
              <a:rPr b="0" sz="1800"/>
              <a:t>Fast-paced tech sector with high competition and rapid market changes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 Organization Chart</a:t>
            </a:r>
          </a:p>
        </p:txBody>
      </p:sp>
      <p:sp>
        <p:nvSpPr>
          <p:cNvPr id="3" name="Content Placeholder 2"/>
          <p:cNvSpPr>
            <a:spLocks noGrp="1"/>
          </p:cNvSpPr>
          <p:nvPr>
            <p:ph idx="1"/>
          </p:nvPr>
        </p:nvSpPr>
        <p:spPr/>
        <p:txBody>
          <a:bodyPr/>
          <a:lstStyle/>
          <a:p>
            <a:pPr/>
            <a:r>
              <a:rPr b="0" sz="1800"/>
              <a:t/>
            </a:r>
          </a:p>
          <a:p>
            <a:pPr/>
            <a:r>
              <a:rPr b="0" sz="1800"/>
              <a:t>CEO / Founder (1)</a:t>
            </a:r>
          </a:p>
          <a:p>
            <a:pPr/>
            <a:r>
              <a:rPr b="0" sz="1800"/>
              <a:t>│</a:t>
            </a:r>
          </a:p>
          <a:p>
            <a:pPr/>
            <a:r>
              <a:rPr b="0" sz="1800"/>
              <a:t>├── Chief Technology Officer (CTO) (1)</a:t>
            </a:r>
          </a:p>
          <a:p>
            <a:pPr/>
            <a:r>
              <a:rPr b="0" sz="1800"/>
              <a:t>│   ├── Development Team</a:t>
            </a:r>
          </a:p>
          <a:p>
            <a:pPr/>
            <a:r>
              <a:rPr b="0" sz="1800"/>
              <a:t>│   │   ├── Backend Developers (4)</a:t>
            </a:r>
          </a:p>
          <a:p>
            <a:pPr/>
            <a:r>
              <a:rPr b="0" sz="1800"/>
              <a:t>│   │   ├── Frontend Developers (1)</a:t>
            </a:r>
          </a:p>
          <a:p>
            <a:pPr/>
            <a:r>
              <a:rPr b="0" sz="1800"/>
              <a:t>│   │   └── DevOps Engineer (1)</a:t>
            </a:r>
          </a:p>
          <a:p>
            <a:pPr/>
            <a:r>
              <a:rPr b="0" sz="1800"/>
              <a:t>│   └── Quality Assurance (1)</a:t>
            </a:r>
          </a:p>
          <a:p>
            <a:pPr/>
            <a:r>
              <a:rPr b="0" sz="1800"/>
              <a:t>│</a:t>
            </a:r>
          </a:p>
          <a:p>
            <a:pPr/>
            <a:r>
              <a:rPr b="0" sz="1800"/>
              <a:t>├── Chief Marketing Officer (CMO) (1)</a:t>
            </a:r>
          </a:p>
          <a:p>
            <a:pPr/>
            <a:r>
              <a:rPr b="0" sz="1800"/>
              <a:t>│   ├── Marketing Team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 Organization Chart</a:t>
            </a:r>
          </a:p>
        </p:txBody>
      </p:sp>
      <p:sp>
        <p:nvSpPr>
          <p:cNvPr id="3" name="Content Placeholder 2"/>
          <p:cNvSpPr>
            <a:spLocks noGrp="1"/>
          </p:cNvSpPr>
          <p:nvPr>
            <p:ph idx="1"/>
          </p:nvPr>
        </p:nvSpPr>
        <p:spPr/>
        <p:txBody>
          <a:bodyPr/>
          <a:lstStyle/>
          <a:p>
            <a:pPr/>
            <a:r>
              <a:rPr b="0" sz="1800"/>
              <a:t>│   │   ├── Digital Marketing Specialist (1)</a:t>
            </a:r>
          </a:p>
          <a:p>
            <a:pPr/>
            <a:r>
              <a:rPr b="0" sz="1800"/>
              <a:t>│   │   └── Content Creator (1)</a:t>
            </a:r>
          </a:p>
          <a:p>
            <a:pPr/>
            <a:r>
              <a:rPr b="0" sz="1800"/>
              <a:t>│   └── Sales Team</a:t>
            </a:r>
          </a:p>
          <a:p>
            <a:pPr/>
            <a:r>
              <a:rPr b="0" sz="1800"/>
              <a:t>│       └── Sales Representatives (1)</a:t>
            </a:r>
          </a:p>
          <a:p>
            <a:pPr/>
            <a:r>
              <a:rPr b="0" sz="1800"/>
              <a:t>│</a:t>
            </a:r>
          </a:p>
          <a:p>
            <a:pPr/>
            <a:r>
              <a:rPr b="0" sz="1800"/>
              <a:t>├── Head of Customer Success (1)</a:t>
            </a:r>
          </a:p>
          <a:p>
            <a:pPr/>
            <a:r>
              <a:rPr b="0" sz="1800"/>
              <a:t>│   └── Customer Support Team</a:t>
            </a:r>
          </a:p>
          <a:p>
            <a:pPr/>
            <a:r>
              <a:rPr b="0" sz="1800"/>
              <a:t>│       └── Customer Support Specialists (2)</a:t>
            </a:r>
          </a:p>
          <a:p>
            <a:pPr/>
            <a:r>
              <a:rPr b="0" sz="1800"/>
              <a:t>│</a:t>
            </a:r>
          </a:p>
          <a:p>
            <a:pPr/>
            <a:r>
              <a:rPr b="0" sz="1800"/>
              <a:t>└── Chief Financial Officer (CFO) / Operations (1)</a:t>
            </a:r>
          </a:p>
          <a:p>
            <a:pPr/>
            <a:r>
              <a:rPr b="0" sz="1800"/>
              <a:t>└── Finance &amp; Admin (1)</a:t>
            </a:r>
          </a:p>
          <a:p>
            <a:pPr/>
            <a:r>
              <a:rPr b="0" sz="1800"/>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 Department Responsibilities</a:t>
            </a:r>
          </a:p>
        </p:txBody>
      </p:sp>
      <p:sp>
        <p:nvSpPr>
          <p:cNvPr id="3" name="Content Placeholder 2"/>
          <p:cNvSpPr>
            <a:spLocks noGrp="1"/>
          </p:cNvSpPr>
          <p:nvPr>
            <p:ph idx="1"/>
          </p:nvPr>
        </p:nvSpPr>
        <p:spPr/>
        <p:txBody>
          <a:bodyPr/>
          <a:lstStyle/>
          <a:p>
            <a:pPr lvl="1"/>
            <a:r>
              <a:rPr b="1" sz="1800"/>
              <a:t>Business/Leadership:</a:t>
            </a:r>
          </a:p>
          <a:p>
            <a:pPr lvl="1"/>
            <a:r>
              <a:rPr b="0" sz="1800"/>
              <a:t>Strategic planning and vision execution</a:t>
            </a:r>
          </a:p>
          <a:p>
            <a:pPr lvl="1"/>
            <a:r>
              <a:rPr b="0" sz="1800"/>
              <a:t>Investor relations and funding management</a:t>
            </a:r>
          </a:p>
          <a:p>
            <a:pPr lvl="1"/>
            <a:r>
              <a:rPr b="0" sz="1800"/>
              <a:t>Strategic partnerships with marketplaces and ERPs</a:t>
            </a:r>
          </a:p>
          <a:p>
            <a:pPr lvl="1"/>
            <a:r>
              <a:rPr b="0" sz="1800"/>
              <a:t>Overall company performance and decision-making</a:t>
            </a:r>
          </a:p>
          <a:p>
            <a:pPr lvl="1"/>
            <a:r>
              <a:rPr b="1" sz="1800"/>
              <a:t>Development Department:</a:t>
            </a:r>
          </a:p>
          <a:p>
            <a:pPr lvl="1"/>
            <a:r>
              <a:rPr b="0" sz="1800"/>
              <a:t>MVP architecture design and implementation</a:t>
            </a:r>
          </a:p>
          <a:p>
            <a:pPr lvl="1"/>
            <a:r>
              <a:rPr b="0" sz="1800"/>
              <a:t>API integrations and maintenance (critical for platform stability)</a:t>
            </a:r>
          </a:p>
          <a:p>
            <a:pPr lvl="1"/>
            <a:r>
              <a:rPr b="0" sz="1800"/>
              <a:t>Cloud infrastructure management (AWS/GCP/Azure)</a:t>
            </a:r>
          </a:p>
          <a:p>
            <a:pPr lvl="1"/>
            <a:r>
              <a:rPr b="0" sz="1800"/>
              <a:t>Product development aligned with customer feedback</a:t>
            </a:r>
          </a:p>
          <a:p>
            <a:pPr lvl="1"/>
            <a:r>
              <a:rPr b="0" sz="1800"/>
              <a:t>Quality assurance and testing</a:t>
            </a:r>
          </a:p>
          <a:p>
            <a:pPr lvl="1"/>
            <a:r>
              <a:rPr b="0" sz="1800"/>
              <a:t>Developing a low-code/no-code setup process is our primary technical challenge, as 85% of our target market has fewer than 10 products and limited technical expertise.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 Department Responsibilities</a:t>
            </a:r>
          </a:p>
        </p:txBody>
      </p:sp>
      <p:sp>
        <p:nvSpPr>
          <p:cNvPr id="3" name="Content Placeholder 2"/>
          <p:cNvSpPr>
            <a:spLocks noGrp="1"/>
          </p:cNvSpPr>
          <p:nvPr>
            <p:ph idx="1"/>
          </p:nvPr>
        </p:nvSpPr>
        <p:spPr/>
        <p:txBody>
          <a:bodyPr/>
          <a:lstStyle/>
          <a:p>
            <a:pPr lvl="1"/>
            <a:r>
              <a:rPr b="1" sz="1800"/>
              <a:t>Marketing &amp; Sales:</a:t>
            </a:r>
          </a:p>
          <a:p>
            <a:pPr lvl="1"/>
            <a:r>
              <a:rPr b="0" sz="1800"/>
              <a:t>Customer Acquisition Cost (CAC) optimization</a:t>
            </a:r>
          </a:p>
          <a:p>
            <a:pPr lvl="1"/>
            <a:r>
              <a:rPr b="0" sz="1800"/>
              <a:t>Digital marketing campaigns (SEO, Google Ads, content marketing)</a:t>
            </a:r>
          </a:p>
          <a:p>
            <a:pPr lvl="1"/>
            <a:r>
              <a:rPr b="0" sz="1800"/>
              <a:t>Channel management and partner relationships</a:t>
            </a:r>
          </a:p>
          <a:p>
            <a:pPr lvl="1"/>
            <a:r>
              <a:rPr b="0" sz="1800"/>
              <a:t>Brand awareness and market positioning</a:t>
            </a:r>
          </a:p>
          <a:p>
            <a:pPr lvl="1"/>
            <a:r>
              <a:rPr b="1" sz="1800"/>
              <a:t>Customer Support:</a:t>
            </a:r>
          </a:p>
          <a:p>
            <a:pPr lvl="1"/>
            <a:r>
              <a:rPr b="0" sz="1800"/>
              <a:t>High-touch onboarding for the 85% of users who are less experienced</a:t>
            </a:r>
          </a:p>
          <a:p>
            <a:pPr lvl="1"/>
            <a:r>
              <a:rPr b="0" sz="1800"/>
              <a:t>User assistance and problem resolution</a:t>
            </a:r>
          </a:p>
          <a:p>
            <a:pPr lvl="1"/>
            <a:r>
              <a:rPr b="0" sz="1800"/>
              <a:t>Feedback collection to inform product development</a:t>
            </a:r>
          </a:p>
          <a:p>
            <a:pPr lvl="1"/>
            <a:r>
              <a:rPr b="0" sz="1800"/>
              <a:t>Customer retention and satisfaction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 Backend Developer</a:t>
            </a:r>
          </a:p>
        </p:txBody>
      </p:sp>
      <p:sp>
        <p:nvSpPr>
          <p:cNvPr id="3" name="Content Placeholder 2"/>
          <p:cNvSpPr>
            <a:spLocks noGrp="1"/>
          </p:cNvSpPr>
          <p:nvPr>
            <p:ph idx="1"/>
          </p:nvPr>
        </p:nvSpPr>
        <p:spPr/>
        <p:txBody>
          <a:bodyPr/>
          <a:lstStyle/>
          <a:p>
            <a:pPr lvl="1"/>
            <a:r>
              <a:rPr b="1" sz="1800"/>
              <a:t>Responsibilities:</a:t>
            </a:r>
          </a:p>
          <a:p>
            <a:pPr lvl="1"/>
            <a:r>
              <a:rPr b="0" sz="1800"/>
              <a:t>Design and develop robust API integrations with marketplaces (Amazon, OLX, eBay, etc.)</a:t>
            </a:r>
          </a:p>
          <a:p>
            <a:pPr lvl="1"/>
            <a:r>
              <a:rPr b="0" sz="1800"/>
              <a:t>Build scalable backend architecture for multi-channel publishing</a:t>
            </a:r>
          </a:p>
          <a:p>
            <a:pPr lvl="1"/>
            <a:r>
              <a:rPr b="0" sz="1800"/>
              <a:t>Implement stock synchronization and data consistency systems</a:t>
            </a:r>
          </a:p>
          <a:p>
            <a:pPr lvl="1"/>
            <a:r>
              <a:rPr b="0" sz="1800"/>
              <a:t>Maintain and monitor API performance and reliability</a:t>
            </a:r>
          </a:p>
          <a:p>
            <a:pPr lvl="1"/>
            <a:r>
              <a:rPr b="1" sz="1800"/>
              <a:t>Required Skills:</a:t>
            </a:r>
            <a:r>
              <a:rPr b="0" sz="1800"/>
              <a:t>API development, cloud architecture, database design, Python/Node.js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5.2.2. UI/UX Designer</a:t>
            </a:r>
          </a:p>
        </p:txBody>
      </p:sp>
      <p:sp>
        <p:nvSpPr>
          <p:cNvPr id="3" name="Content Placeholder 2"/>
          <p:cNvSpPr>
            <a:spLocks noGrp="1"/>
          </p:cNvSpPr>
          <p:nvPr>
            <p:ph idx="1"/>
          </p:nvPr>
        </p:nvSpPr>
        <p:spPr/>
        <p:txBody>
          <a:bodyPr/>
          <a:lstStyle/>
          <a:p>
            <a:pPr lvl="1"/>
            <a:r>
              <a:rPr b="1" sz="1800"/>
              <a:t>Responsibilities:</a:t>
            </a:r>
          </a:p>
          <a:p>
            <a:pPr lvl="1"/>
            <a:r>
              <a:rPr b="0" sz="1800"/>
              <a:t>Design intuitive user interfaces that embody the "Simplicity" core value</a:t>
            </a:r>
          </a:p>
          <a:p>
            <a:pPr lvl="1"/>
            <a:r>
              <a:rPr b="0" sz="1800"/>
              <a:t>Create user flows for product publishing and dashboard navigation</a:t>
            </a:r>
          </a:p>
          <a:p>
            <a:pPr lvl="1"/>
            <a:r>
              <a:rPr b="0" sz="1800"/>
              <a:t>Conduct user testing and iterate based on feedback</a:t>
            </a:r>
          </a:p>
          <a:p>
            <a:pPr lvl="1"/>
            <a:r>
              <a:rPr b="0" sz="1800"/>
              <a:t>Ensure accessibility and responsive design</a:t>
            </a:r>
          </a:p>
          <a:p>
            <a:pPr lvl="1"/>
            <a:r>
              <a:rPr b="1" sz="1800"/>
              <a:t>Required Skills:</a:t>
            </a:r>
            <a:r>
              <a:rPr b="0" sz="1800"/>
              <a:t>User research, prototyping, design systems, Figma/Adobe XD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 Customer Support Specialist</a:t>
            </a:r>
          </a:p>
        </p:txBody>
      </p:sp>
      <p:sp>
        <p:nvSpPr>
          <p:cNvPr id="3" name="Content Placeholder 2"/>
          <p:cNvSpPr>
            <a:spLocks noGrp="1"/>
          </p:cNvSpPr>
          <p:nvPr>
            <p:ph idx="1"/>
          </p:nvPr>
        </p:nvSpPr>
        <p:spPr/>
        <p:txBody>
          <a:bodyPr/>
          <a:lstStyle/>
          <a:p>
            <a:pPr lvl="1"/>
            <a:r>
              <a:rPr b="1" sz="1800"/>
              <a:t>Responsibilities:</a:t>
            </a:r>
          </a:p>
          <a:p>
            <a:pPr lvl="1"/>
            <a:r>
              <a:rPr b="0" sz="1800"/>
              <a:t>Provide personalized onboarding support for new users</a:t>
            </a:r>
          </a:p>
          <a:p>
            <a:pPr lvl="1"/>
            <a:r>
              <a:rPr b="0" sz="1800"/>
              <a:t>Resolve technical issues and answer product questions</a:t>
            </a:r>
          </a:p>
          <a:p>
            <a:pPr lvl="1"/>
            <a:r>
              <a:rPr b="0" sz="1800"/>
              <a:t>Collect and document user feedback for product improvements</a:t>
            </a:r>
          </a:p>
          <a:p>
            <a:pPr lvl="1"/>
            <a:r>
              <a:rPr b="0" sz="1800"/>
              <a:t>Maintain high customer satisfaction scores</a:t>
            </a:r>
          </a:p>
          <a:p>
            <a:pPr lvl="1"/>
            <a:r>
              <a:rPr b="1" sz="1800"/>
              <a:t>Required Skills:</a:t>
            </a:r>
            <a:r>
              <a:rPr b="0" sz="1800"/>
              <a:t>Communication, problem-solving, SaaS platform knowledge, empathy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 Digital Marketing Specialist</a:t>
            </a:r>
          </a:p>
        </p:txBody>
      </p:sp>
      <p:sp>
        <p:nvSpPr>
          <p:cNvPr id="3" name="Content Placeholder 2"/>
          <p:cNvSpPr>
            <a:spLocks noGrp="1"/>
          </p:cNvSpPr>
          <p:nvPr>
            <p:ph idx="1"/>
          </p:nvPr>
        </p:nvSpPr>
        <p:spPr/>
        <p:txBody>
          <a:bodyPr/>
          <a:lstStyle/>
          <a:p>
            <a:pPr lvl="1"/>
            <a:r>
              <a:rPr b="1" sz="1800"/>
              <a:t>Responsibilities:</a:t>
            </a:r>
          </a:p>
          <a:p>
            <a:pPr lvl="1"/>
            <a:r>
              <a:rPr b="0" sz="1800"/>
              <a:t>Execute SEO strategies targeting "marketplace automation" keywords</a:t>
            </a:r>
          </a:p>
          <a:p>
            <a:pPr lvl="1"/>
            <a:r>
              <a:rPr b="0" sz="1800"/>
              <a:t>Manage Google Ads campaigns to optimize CAC</a:t>
            </a:r>
          </a:p>
          <a:p>
            <a:pPr lvl="1"/>
            <a:r>
              <a:rPr b="0" sz="1800"/>
              <a:t>Develop content marketing strategies (blog posts, tutorials, case studies)</a:t>
            </a:r>
          </a:p>
          <a:p>
            <a:pPr lvl="1"/>
            <a:r>
              <a:rPr b="0" sz="1800"/>
              <a:t>Analyze marketing metrics and ROI</a:t>
            </a:r>
          </a:p>
          <a:p>
            <a:pPr lvl="1"/>
            <a:r>
              <a:rPr b="1" sz="1800"/>
              <a:t>Required Skills:</a:t>
            </a:r>
            <a:r>
              <a:rPr b="0" sz="1800"/>
              <a:t>SEO, SEM, content marketing, analytics tools, B2B SaaS experience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 Formal Communication Structure</a:t>
            </a:r>
          </a:p>
        </p:txBody>
      </p:sp>
      <p:sp>
        <p:nvSpPr>
          <p:cNvPr id="3" name="Content Placeholder 2"/>
          <p:cNvSpPr>
            <a:spLocks noGrp="1"/>
          </p:cNvSpPr>
          <p:nvPr>
            <p:ph idx="1"/>
          </p:nvPr>
        </p:nvSpPr>
        <p:spPr/>
        <p:txBody>
          <a:bodyPr/>
          <a:lstStyle/>
          <a:p>
            <a:pPr lvl="1"/>
            <a:r>
              <a:rPr b="0" sz="1800"/>
              <a:t/>
            </a:r>
            <a:r>
              <a:rPr b="1" sz="1800"/>
              <a:t>Daily Stand-ups:</a:t>
            </a:r>
            <a:r>
              <a:rPr b="0" sz="1800"/>
              <a:t>Development team sync meetings (15 minutes)</a:t>
            </a:r>
          </a:p>
          <a:p>
            <a:pPr lvl="1"/>
            <a:r>
              <a:rPr b="0" sz="1800"/>
              <a:t/>
            </a:r>
            <a:r>
              <a:rPr b="1" sz="1800"/>
              <a:t>Weekly All-Hands:</a:t>
            </a:r>
            <a:r>
              <a:rPr b="0" sz="1800"/>
              <a:t>Company-wide updates on progress and priorities</a:t>
            </a:r>
          </a:p>
          <a:p>
            <a:pPr lvl="1"/>
            <a:r>
              <a:rPr b="0" sz="1800"/>
              <a:t/>
            </a:r>
            <a:r>
              <a:rPr b="1" sz="1800"/>
              <a:t>Bi-weekly Sprint Reviews:</a:t>
            </a:r>
            <a:r>
              <a:rPr b="0" sz="1800"/>
              <a:t>Product demos and feedback sessions</a:t>
            </a:r>
          </a:p>
          <a:p>
            <a:pPr lvl="1"/>
            <a:r>
              <a:rPr b="0" sz="1800"/>
              <a:t/>
            </a:r>
            <a:r>
              <a:rPr b="1" sz="1800"/>
              <a:t>Monthly Strategy Reviews:</a:t>
            </a:r>
            <a:r>
              <a:rPr b="0" sz="1800"/>
              <a:t>Leadership team alignment on objectives</a:t>
            </a:r>
          </a:p>
          <a:p>
            <a:pPr lvl="1"/>
            <a:r>
              <a:rPr b="0" sz="1800"/>
              <a:t/>
            </a:r>
            <a:r>
              <a:rPr b="1" sz="1800"/>
              <a:t>Quarterly Business Reviews:</a:t>
            </a:r>
            <a:r>
              <a:rPr b="0" sz="1800"/>
              <a:t>Performance analysis and planning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5.3.2. Decision-Making Framework</a:t>
            </a:r>
          </a:p>
        </p:txBody>
      </p:sp>
      <p:sp>
        <p:nvSpPr>
          <p:cNvPr id="3" name="Content Placeholder 2"/>
          <p:cNvSpPr>
            <a:spLocks noGrp="1"/>
          </p:cNvSpPr>
          <p:nvPr>
            <p:ph idx="1"/>
          </p:nvPr>
        </p:nvSpPr>
        <p:spPr/>
        <p:txBody>
          <a:bodyPr/>
          <a:lstStyle/>
          <a:p>
            <a:pPr lvl="1"/>
            <a:r>
              <a:rPr b="0" sz="1800"/>
              <a:t/>
            </a:r>
            <a:r>
              <a:rPr b="1" sz="1800"/>
              <a:t>Strategic Decisions:</a:t>
            </a:r>
            <a:r>
              <a:rPr b="0" sz="1800"/>
              <a:t>CEO/Founder with input from leadership team</a:t>
            </a:r>
          </a:p>
          <a:p>
            <a:pPr lvl="1"/>
            <a:r>
              <a:rPr b="0" sz="1800"/>
              <a:t/>
            </a:r>
            <a:r>
              <a:rPr b="1" sz="1800"/>
              <a:t>Product Decisions:</a:t>
            </a:r>
            <a:r>
              <a:rPr b="0" sz="1800"/>
              <a:t>CTO and Development team, informed by customer feedback data</a:t>
            </a:r>
          </a:p>
          <a:p>
            <a:pPr lvl="1"/>
            <a:r>
              <a:rPr b="0" sz="1800"/>
              <a:t/>
            </a:r>
            <a:r>
              <a:rPr b="1" sz="1800"/>
              <a:t>Marketing Decisions:</a:t>
            </a:r>
            <a:r>
              <a:rPr b="0" sz="1800"/>
              <a:t>CMO with data-driven approach (CAC, conversion rates)</a:t>
            </a:r>
          </a:p>
          <a:p>
            <a:pPr lvl="1"/>
            <a:r>
              <a:rPr b="0" sz="1800"/>
              <a:t/>
            </a:r>
            <a:r>
              <a:rPr b="1" sz="1800"/>
              <a:t>Customer-Facing Decisions:</a:t>
            </a:r>
            <a:r>
              <a:rPr b="0" sz="1800"/>
              <a:t>Head of Customer Success with support team input</a:t>
            </a:r>
          </a:p>
          <a:p>
            <a:pPr lvl="1"/>
            <a:r>
              <a:rPr b="0" sz="1800"/>
              <a:t/>
            </a:r>
            <a:r>
              <a:rPr b="1" sz="1800"/>
              <a:t>Cross-Functional Decisions:</a:t>
            </a:r>
            <a:r>
              <a:rPr b="0" sz="1800"/>
              <a:t>Collaborative approach with relevant stakeholders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 Information Systems for People Management</a:t>
            </a:r>
          </a:p>
        </p:txBody>
      </p:sp>
      <p:sp>
        <p:nvSpPr>
          <p:cNvPr id="3" name="Content Placeholder 2"/>
          <p:cNvSpPr>
            <a:spLocks noGrp="1"/>
          </p:cNvSpPr>
          <p:nvPr>
            <p:ph idx="1"/>
          </p:nvPr>
        </p:nvSpPr>
        <p:spPr/>
        <p:txBody>
          <a:bodyPr/>
          <a:lstStyle/>
          <a:p>
            <a:pPr lvl="1"/>
            <a:r>
              <a:rPr b="0" sz="1800"/>
              <a:t/>
            </a:r>
            <a:r>
              <a:rPr b="1" sz="1800"/>
              <a:t>HRIS (Human Resources Information System):</a:t>
            </a:r>
            <a:r>
              <a:rPr b="0" sz="1800"/>
              <a:t>Track employee data, performance, and development</a:t>
            </a:r>
          </a:p>
          <a:p>
            <a:pPr lvl="1"/>
            <a:r>
              <a:rPr b="0" sz="1800"/>
              <a:t/>
            </a:r>
            <a:r>
              <a:rPr b="1" sz="1800"/>
              <a:t>Project Management Tools:</a:t>
            </a:r>
            <a:r>
              <a:rPr b="0" sz="1800"/>
              <a:t>Jira/Asana for development tracking</a:t>
            </a:r>
          </a:p>
          <a:p>
            <a:pPr lvl="1"/>
            <a:r>
              <a:rPr b="0" sz="1800"/>
              <a:t/>
            </a:r>
            <a:r>
              <a:rPr b="1" sz="1800"/>
              <a:t>Communication Platforms:</a:t>
            </a:r>
            <a:r>
              <a:rPr b="0" sz="1800"/>
              <a:t>Slack for real-time collaboration</a:t>
            </a:r>
          </a:p>
          <a:p>
            <a:pPr lvl="1"/>
            <a:r>
              <a:rPr b="0" sz="1800"/>
              <a:t/>
            </a:r>
            <a:r>
              <a:rPr b="1" sz="1800"/>
              <a:t>Performance Management System:</a:t>
            </a:r>
            <a:r>
              <a:rPr b="0" sz="1800"/>
              <a:t>Quarterly reviews and goal tracking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5.4.1. Monitoring People</a:t>
            </a:r>
          </a:p>
        </p:txBody>
      </p:sp>
      <p:sp>
        <p:nvSpPr>
          <p:cNvPr id="3" name="Content Placeholder 2"/>
          <p:cNvSpPr>
            <a:spLocks noGrp="1"/>
          </p:cNvSpPr>
          <p:nvPr>
            <p:ph idx="1"/>
          </p:nvPr>
        </p:nvSpPr>
        <p:spPr/>
        <p:txBody>
          <a:bodyPr/>
          <a:lstStyle/>
          <a:p>
            <a:pPr lvl="1"/>
            <a:r>
              <a:rPr b="1" sz="1800"/>
              <a:t>Performance Monitoring:</a:t>
            </a:r>
          </a:p>
          <a:p>
            <a:pPr lvl="1"/>
            <a:r>
              <a:rPr b="0" sz="1800"/>
              <a:t/>
            </a:r>
            <a:r>
              <a:rPr b="1" sz="1800"/>
              <a:t>Quarterly Performance Reviews:</a:t>
            </a:r>
            <a:r>
              <a:rPr b="0" sz="1800"/>
              <a:t>Structured evaluations with clear objectives</a:t>
            </a:r>
          </a:p>
          <a:p>
            <a:pPr lvl="1"/>
            <a:r>
              <a:rPr b="0" sz="1800"/>
              <a:t/>
            </a:r>
            <a:r>
              <a:rPr b="1" sz="1800"/>
              <a:t>Key Performance Indicators (KPIs):</a:t>
            </a:r>
            <a:r>
              <a:rPr b="0" sz="1800"/>
              <a:t>Department-specific metrics aligned with company goals</a:t>
            </a:r>
          </a:p>
          <a:p>
            <a:pPr lvl="1"/>
            <a:r>
              <a:rPr b="0" sz="1800"/>
              <a:t>Development: API uptime, feature delivery velocity, bug resolution time</a:t>
            </a:r>
          </a:p>
          <a:p>
            <a:pPr lvl="1"/>
            <a:r>
              <a:rPr b="0" sz="1800"/>
              <a:t>Marketing: CAC, conversion rates, customer acquisition growth</a:t>
            </a:r>
          </a:p>
          <a:p>
            <a:pPr lvl="1"/>
            <a:r>
              <a:rPr b="0" sz="1800"/>
              <a:t>Customer Support: Response time, customer satisfaction (CSAT), retention rate</a:t>
            </a:r>
          </a:p>
          <a:p>
            <a:pPr lvl="1"/>
            <a:r>
              <a:rPr b="0" sz="1800"/>
              <a:t/>
            </a:r>
            <a:r>
              <a:rPr b="1" sz="1800"/>
              <a:t>Continuous Feedback:</a:t>
            </a:r>
            <a:r>
              <a:rPr b="0" sz="1800"/>
              <a:t>Regular 1-on-1 meetings between managers and team members</a:t>
            </a:r>
          </a:p>
          <a:p>
            <a:pPr lvl="1"/>
            <a:r>
              <a:rPr b="0" sz="1800"/>
              <a:t/>
            </a:r>
            <a:r>
              <a:rPr b="1" sz="1800"/>
              <a:t>Data-Driven Insights:</a:t>
            </a:r>
            <a:r>
              <a:rPr b="0" sz="1800"/>
              <a:t>Use analytics to identify top performers and areas for improvement</a:t>
            </a:r>
          </a:p>
          <a:p>
            <a:pPr lvl="1"/>
            <a:r>
              <a:rPr b="1" sz="1800"/>
              <a:t>Performance Management Model:</a:t>
            </a:r>
          </a:p>
          <a:p>
            <a:pPr lvl="1"/>
            <a:r>
              <a:rPr b="0" sz="1800"/>
              <a:t/>
            </a:r>
            <a:r>
              <a:rPr b="1" sz="1800"/>
              <a:t>Goal Setting:</a:t>
            </a:r>
            <a:r>
              <a:rPr b="0" sz="1800"/>
              <a:t>SMART objectives aligned with company strategy</a:t>
            </a:r>
          </a:p>
          <a:p>
            <a:pPr lvl="1"/>
            <a:r>
              <a:rPr b="0" sz="1800"/>
              <a:t/>
            </a:r>
            <a:r>
              <a:rPr b="1" sz="1800"/>
              <a:t>Regular Check-ins:</a:t>
            </a:r>
            <a:r>
              <a:rPr b="0" sz="1800"/>
              <a:t>Monthly progress reviews</a:t>
            </a:r>
          </a:p>
          <a:p>
            <a:pPr lvl="1"/>
            <a:r>
              <a:rPr b="0" sz="1800"/>
              <a:t/>
            </a:r>
            <a:r>
              <a:rPr b="1" sz="1800"/>
              <a:t>360-Degree Feedback:</a:t>
            </a:r>
            <a:r>
              <a:rPr b="0" sz="1800"/>
              <a:t>Peer and cross-functional input for comprehensive evaluation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5.4.1. Monitoring People</a:t>
            </a:r>
          </a:p>
        </p:txBody>
      </p:sp>
      <p:sp>
        <p:nvSpPr>
          <p:cNvPr id="3" name="Content Placeholder 2"/>
          <p:cNvSpPr>
            <a:spLocks noGrp="1"/>
          </p:cNvSpPr>
          <p:nvPr>
            <p:ph idx="1"/>
          </p:nvPr>
        </p:nvSpPr>
        <p:spPr/>
        <p:txBody>
          <a:bodyPr/>
          <a:lstStyle/>
          <a:p>
            <a:pPr lvl="1"/>
            <a:r>
              <a:rPr b="0" sz="1800"/>
              <a:t/>
            </a:r>
            <a:r>
              <a:rPr b="1" sz="1800"/>
              <a:t>Performance Improvement Plans:</a:t>
            </a:r>
            <a:r>
              <a:rPr b="0" sz="1800"/>
              <a:t>Support for employees who need development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 Recruiting People</a:t>
            </a:r>
          </a:p>
        </p:txBody>
      </p:sp>
      <p:sp>
        <p:nvSpPr>
          <p:cNvPr id="3" name="Content Placeholder 2"/>
          <p:cNvSpPr>
            <a:spLocks noGrp="1"/>
          </p:cNvSpPr>
          <p:nvPr>
            <p:ph idx="1"/>
          </p:nvPr>
        </p:nvSpPr>
        <p:spPr/>
        <p:txBody>
          <a:bodyPr/>
          <a:lstStyle/>
          <a:p>
            <a:pPr lvl="1"/>
            <a:r>
              <a:rPr b="1" sz="1800"/>
              <a:t>Recruitment and Selection Process:</a:t>
            </a:r>
          </a:p>
          <a:p>
            <a:pPr/>
            <a:r>
              <a:rPr b="0" sz="1800"/>
              <a:t>1.</a:t>
            </a:r>
            <a:r>
              <a:rPr b="1" sz="1800"/>
              <a:t>Job Vacancy Identification:</a:t>
            </a:r>
          </a:p>
          <a:p>
            <a:pPr lvl="1"/>
            <a:r>
              <a:rPr b="0" sz="1800"/>
              <a:t>Analyze current team capacity and project needs</a:t>
            </a:r>
          </a:p>
          <a:p>
            <a:pPr lvl="1"/>
            <a:r>
              <a:rPr b="0" sz="1800"/>
              <a:t>Decision: Fill internally (redistribution) or recruit externally</a:t>
            </a:r>
          </a:p>
          <a:p>
            <a:pPr/>
            <a:r>
              <a:rPr b="0" sz="1800"/>
              <a:t>2.</a:t>
            </a:r>
            <a:r>
              <a:rPr b="1" sz="1800"/>
              <a:t>Profile Definition:</a:t>
            </a:r>
          </a:p>
          <a:p>
            <a:pPr lvl="1"/>
            <a:r>
              <a:rPr b="0" sz="1800"/>
              <a:t>Create detailed job descriptions with required competencies</a:t>
            </a:r>
          </a:p>
          <a:p>
            <a:pPr lvl="1"/>
            <a:r>
              <a:rPr b="0" sz="1800"/>
              <a:t>Define technical skills, soft skills, and cultural fit criteria</a:t>
            </a:r>
          </a:p>
          <a:p>
            <a:pPr lvl="1"/>
            <a:r>
              <a:rPr b="0" sz="1800"/>
              <a:t>Prioritize: API expertise for developers, customer empathy for support</a:t>
            </a:r>
          </a:p>
          <a:p>
            <a:pPr/>
            <a:r>
              <a:rPr b="0" sz="1800"/>
              <a:t>3.</a:t>
            </a:r>
            <a:r>
              <a:rPr b="1" sz="1800"/>
              <a:t>Recruitment Channels:</a:t>
            </a:r>
          </a:p>
          <a:p>
            <a:pPr lvl="1"/>
            <a:r>
              <a:rPr b="0" sz="1800"/>
              <a:t/>
            </a:r>
            <a:r>
              <a:rPr b="1" sz="1800"/>
              <a:t>Internal:</a:t>
            </a:r>
            <a:r>
              <a:rPr b="0" sz="1800"/>
              <a:t>Promote from within when possible (retention strategy)</a:t>
            </a:r>
          </a:p>
          <a:p>
            <a:pPr lvl="1"/>
            <a:r>
              <a:rPr b="0" sz="1800"/>
              <a:t/>
            </a:r>
            <a:r>
              <a:rPr b="1" sz="1800"/>
              <a:t>External:</a:t>
            </a:r>
          </a:p>
          <a:p>
            <a:pPr lvl="1"/>
            <a:r>
              <a:rPr b="0" sz="1800"/>
              <a:t>Tech job boards (LinkedIn, Stack Overflow, GitHub Jobs)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 Recruiting People</a:t>
            </a:r>
          </a:p>
        </p:txBody>
      </p:sp>
      <p:sp>
        <p:nvSpPr>
          <p:cNvPr id="3" name="Content Placeholder 2"/>
          <p:cNvSpPr>
            <a:spLocks noGrp="1"/>
          </p:cNvSpPr>
          <p:nvPr>
            <p:ph idx="1"/>
          </p:nvPr>
        </p:nvSpPr>
        <p:spPr/>
        <p:txBody>
          <a:bodyPr/>
          <a:lstStyle/>
          <a:p>
            <a:pPr lvl="1"/>
            <a:r>
              <a:rPr b="0" sz="1800"/>
              <a:t>University partnerships for junior positions</a:t>
            </a:r>
          </a:p>
          <a:p>
            <a:pPr lvl="1"/>
            <a:r>
              <a:rPr b="0" sz="1800"/>
              <a:t>Referral program (employee incentives)</a:t>
            </a:r>
          </a:p>
          <a:p>
            <a:pPr lvl="1"/>
            <a:r>
              <a:rPr b="0" sz="1800"/>
              <a:t>Tech meetups and conferences</a:t>
            </a:r>
          </a:p>
          <a:p>
            <a:pPr/>
            <a:r>
              <a:rPr b="0" sz="1800"/>
              <a:t>4.</a:t>
            </a:r>
            <a:r>
              <a:rPr b="1" sz="1800"/>
              <a:t>Selection Process:</a:t>
            </a:r>
          </a:p>
          <a:p>
            <a:pPr lvl="1"/>
            <a:r>
              <a:rPr b="0" sz="1800"/>
              <a:t/>
            </a:r>
            <a:r>
              <a:rPr b="1" sz="1800"/>
              <a:t>Initial Screening:</a:t>
            </a:r>
            <a:r>
              <a:rPr b="0" sz="1800"/>
              <a:t>Resume and portfolio review</a:t>
            </a:r>
          </a:p>
          <a:p>
            <a:pPr lvl="1"/>
            <a:r>
              <a:rPr b="0" sz="1800"/>
              <a:t/>
            </a:r>
            <a:r>
              <a:rPr b="1" sz="1800"/>
              <a:t>Technical Assessment:</a:t>
            </a:r>
            <a:r>
              <a:rPr b="0" sz="1800"/>
              <a:t>Coding challenges or design tasks</a:t>
            </a:r>
          </a:p>
          <a:p>
            <a:pPr lvl="1"/>
            <a:r>
              <a:rPr b="0" sz="1800"/>
              <a:t/>
            </a:r>
            <a:r>
              <a:rPr b="1" sz="1800"/>
              <a:t>Interviews:</a:t>
            </a:r>
          </a:p>
          <a:p>
            <a:pPr lvl="1"/>
            <a:r>
              <a:rPr b="0" sz="1800"/>
              <a:t>Technical interview with team lead</a:t>
            </a:r>
          </a:p>
          <a:p>
            <a:pPr lvl="1"/>
            <a:r>
              <a:rPr b="0" sz="1800"/>
              <a:t>Cultural fit interview with leadership</a:t>
            </a:r>
          </a:p>
          <a:p>
            <a:pPr lvl="1"/>
            <a:r>
              <a:rPr b="0" sz="1800"/>
              <a:t>Final interview with CEO/Founder for key positions</a:t>
            </a:r>
          </a:p>
          <a:p>
            <a:pPr lvl="1"/>
            <a:r>
              <a:rPr b="0" sz="1800"/>
              <a:t/>
            </a:r>
            <a:r>
              <a:rPr b="1" sz="1800"/>
              <a:t>Reference Checks:</a:t>
            </a:r>
            <a:r>
              <a:rPr b="0" sz="1800"/>
              <a:t>Validate previous experience and performance</a:t>
            </a:r>
          </a:p>
          <a:p>
            <a:pPr/>
            <a:r>
              <a:rPr b="0" sz="1800"/>
              <a:t>5.</a:t>
            </a:r>
            <a:r>
              <a:rPr b="1" sz="1800"/>
              <a:t>Decision and Offer: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 Recruiting People</a:t>
            </a:r>
          </a:p>
        </p:txBody>
      </p:sp>
      <p:sp>
        <p:nvSpPr>
          <p:cNvPr id="3" name="Content Placeholder 2"/>
          <p:cNvSpPr>
            <a:spLocks noGrp="1"/>
          </p:cNvSpPr>
          <p:nvPr>
            <p:ph idx="1"/>
          </p:nvPr>
        </p:nvSpPr>
        <p:spPr/>
        <p:txBody>
          <a:bodyPr/>
          <a:lstStyle/>
          <a:p>
            <a:pPr lvl="1"/>
            <a:r>
              <a:rPr b="0" sz="1800"/>
              <a:t>Evaluate candidates against defined profile</a:t>
            </a:r>
          </a:p>
          <a:p>
            <a:pPr lvl="1"/>
            <a:r>
              <a:rPr b="0" sz="1800"/>
              <a:t>Extend competitive offers aligned with market rates</a:t>
            </a:r>
          </a:p>
          <a:p>
            <a:pPr lvl="1"/>
            <a:r>
              <a:rPr b="0" sz="1800"/>
              <a:t/>
            </a:r>
            <a:r>
              <a:rPr b="1" sz="1800"/>
              <a:t>Rejected Candidates:</a:t>
            </a:r>
            <a:r>
              <a:rPr b="0" sz="1800"/>
              <a:t>Provide constructive feedback when requested</a:t>
            </a:r>
          </a:p>
          <a:p>
            <a:pPr lvl="1"/>
            <a:r>
              <a:rPr b="1" sz="1800"/>
              <a:t>Key Hires Priority (Year 1):</a:t>
            </a:r>
          </a:p>
          <a:p>
            <a:pPr lvl="1"/>
            <a:r>
              <a:rPr b="0" sz="1800"/>
              <a:t/>
            </a:r>
            <a:r>
              <a:rPr b="1" sz="1800"/>
              <a:t>Backend Developers (4):</a:t>
            </a:r>
            <a:r>
              <a:rPr b="0" sz="1800"/>
              <a:t>Critical for API integrations and platform stability</a:t>
            </a:r>
          </a:p>
          <a:p>
            <a:pPr lvl="1"/>
            <a:r>
              <a:rPr b="0" sz="1800"/>
              <a:t/>
            </a:r>
            <a:r>
              <a:rPr b="1" sz="1800"/>
              <a:t>UI/UX Designer (1):</a:t>
            </a:r>
            <a:r>
              <a:rPr b="0" sz="1800"/>
              <a:t>Essential to maintain "Simplicity" value proposition</a:t>
            </a:r>
          </a:p>
          <a:p>
            <a:pPr lvl="1"/>
            <a:r>
              <a:rPr b="0" sz="1800"/>
              <a:t/>
            </a:r>
            <a:r>
              <a:rPr b="1" sz="1800"/>
              <a:t>Customer Support Specialists (1):</a:t>
            </a:r>
            <a:r>
              <a:rPr b="0" sz="1800"/>
              <a:t>High-touch onboarding for 85% of inexperienced users</a:t>
            </a:r>
          </a:p>
          <a:p>
            <a:pPr lvl="1"/>
            <a:r>
              <a:rPr b="0" sz="1800"/>
              <a:t/>
            </a:r>
            <a:r>
              <a:rPr b="1" sz="1800"/>
              <a:t>Digital Marketing Specialist (1):</a:t>
            </a:r>
            <a:r>
              <a:rPr b="0" sz="1800"/>
              <a:t>Optimize CAC and drive growth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 Orienting People</a:t>
            </a:r>
          </a:p>
        </p:txBody>
      </p:sp>
      <p:sp>
        <p:nvSpPr>
          <p:cNvPr id="3" name="Content Placeholder 2"/>
          <p:cNvSpPr>
            <a:spLocks noGrp="1"/>
          </p:cNvSpPr>
          <p:nvPr>
            <p:ph idx="1"/>
          </p:nvPr>
        </p:nvSpPr>
        <p:spPr/>
        <p:txBody>
          <a:bodyPr/>
          <a:lstStyle/>
          <a:p>
            <a:pPr lvl="1"/>
            <a:r>
              <a:rPr b="1" sz="1800"/>
              <a:t>Onboarding and Integration:</a:t>
            </a:r>
          </a:p>
          <a:p>
            <a:pPr lvl="1"/>
            <a:r>
              <a:rPr b="0" sz="1800"/>
              <a:t/>
            </a:r>
            <a:r>
              <a:rPr b="1" sz="1800"/>
              <a:t>Welcome Program:</a:t>
            </a:r>
            <a:r>
              <a:rPr b="0" sz="1800"/>
              <a:t>First-day orientation covering company culture, values, and tools</a:t>
            </a:r>
          </a:p>
          <a:p>
            <a:pPr lvl="1"/>
            <a:r>
              <a:rPr b="0" sz="1800"/>
              <a:t/>
            </a:r>
            <a:r>
              <a:rPr b="1" sz="1800"/>
              <a:t>Buddy System:</a:t>
            </a:r>
            <a:r>
              <a:rPr b="0" sz="1800"/>
              <a:t>Pair new hires with experienced team members</a:t>
            </a:r>
          </a:p>
          <a:p>
            <a:pPr lvl="1"/>
            <a:r>
              <a:rPr b="0" sz="1800"/>
              <a:t/>
            </a:r>
            <a:r>
              <a:rPr b="1" sz="1800"/>
              <a:t>30-60-90 Day Plans:</a:t>
            </a:r>
            <a:r>
              <a:rPr b="0" sz="1800"/>
              <a:t>Structured goals for first three months</a:t>
            </a:r>
          </a:p>
          <a:p>
            <a:pPr lvl="1"/>
            <a:r>
              <a:rPr b="0" sz="1800"/>
              <a:t/>
            </a:r>
            <a:r>
              <a:rPr b="1" sz="1800"/>
              <a:t>Access and Tools:</a:t>
            </a:r>
            <a:r>
              <a:rPr b="0" sz="1800"/>
              <a:t>Immediate setup of necessary systems and accounts</a:t>
            </a:r>
          </a:p>
          <a:p>
            <a:pPr lvl="1"/>
            <a:r>
              <a:rPr b="1" sz="1800"/>
              <a:t>Competency Model:</a:t>
            </a:r>
          </a:p>
          <a:p>
            <a:pPr lvl="1"/>
            <a:r>
              <a:rPr b="0" sz="1800"/>
              <a:t/>
            </a:r>
            <a:r>
              <a:rPr b="1" sz="1800"/>
              <a:t>Technical Competencies:</a:t>
            </a:r>
            <a:r>
              <a:rPr b="0" sz="1800"/>
              <a:t>Role-specific skills (API development, UI/UX design, etc.)</a:t>
            </a:r>
          </a:p>
          <a:p>
            <a:pPr lvl="1"/>
            <a:r>
              <a:rPr b="0" sz="1800"/>
              <a:t/>
            </a:r>
            <a:r>
              <a:rPr b="1" sz="1800"/>
              <a:t>Core Competencies:</a:t>
            </a:r>
          </a:p>
          <a:p>
            <a:pPr lvl="1"/>
            <a:r>
              <a:rPr b="0" sz="1800"/>
              <a:t>Customer Focus (aligns with core value)</a:t>
            </a:r>
          </a:p>
          <a:p>
            <a:pPr lvl="1"/>
            <a:r>
              <a:rPr b="0" sz="1800"/>
              <a:t>Problem-solving and adaptability</a:t>
            </a:r>
          </a:p>
          <a:p>
            <a:pPr lvl="1"/>
            <a:r>
              <a:rPr b="0" sz="1800"/>
              <a:t>Communication and collaboration</a:t>
            </a:r>
          </a:p>
          <a:p>
            <a:pPr lvl="1"/>
            <a:r>
              <a:rPr b="0" sz="1800"/>
              <a:t>Innovation and continuous learning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 Orienting People</a:t>
            </a:r>
          </a:p>
        </p:txBody>
      </p:sp>
      <p:sp>
        <p:nvSpPr>
          <p:cNvPr id="3" name="Content Placeholder 2"/>
          <p:cNvSpPr>
            <a:spLocks noGrp="1"/>
          </p:cNvSpPr>
          <p:nvPr>
            <p:ph idx="1"/>
          </p:nvPr>
        </p:nvSpPr>
        <p:spPr/>
        <p:txBody>
          <a:bodyPr/>
          <a:lstStyle/>
          <a:p>
            <a:pPr lvl="1"/>
            <a:r>
              <a:rPr b="1" sz="1800"/>
              <a:t>Performance Management Model:</a:t>
            </a:r>
          </a:p>
          <a:p>
            <a:pPr lvl="1"/>
            <a:r>
              <a:rPr b="0" sz="1800"/>
              <a:t/>
            </a:r>
            <a:r>
              <a:rPr b="1" sz="1800"/>
              <a:t>Clear Expectations:</a:t>
            </a:r>
            <a:r>
              <a:rPr b="0" sz="1800"/>
              <a:t>Define success criteria for each role</a:t>
            </a:r>
          </a:p>
          <a:p>
            <a:pPr lvl="1"/>
            <a:r>
              <a:rPr b="0" sz="1800"/>
              <a:t/>
            </a:r>
            <a:r>
              <a:rPr b="1" sz="1800"/>
              <a:t>Regular Feedback:</a:t>
            </a:r>
            <a:r>
              <a:rPr b="0" sz="1800"/>
              <a:t>Weekly check-ins during onboarding, monthly thereafter</a:t>
            </a:r>
          </a:p>
          <a:p>
            <a:pPr lvl="1"/>
            <a:r>
              <a:rPr b="0" sz="1800"/>
              <a:t/>
            </a:r>
            <a:r>
              <a:rPr b="1" sz="1800"/>
              <a:t>Goal Alignment:</a:t>
            </a:r>
            <a:r>
              <a:rPr b="0" sz="1800"/>
              <a:t>Connect individual goals to company objectives</a:t>
            </a:r>
          </a:p>
          <a:p>
            <a:pPr lvl="1"/>
            <a:r>
              <a:rPr b="0" sz="1800"/>
              <a:t/>
            </a:r>
            <a:r>
              <a:rPr b="1" sz="1800"/>
              <a:t>Development Planning:</a:t>
            </a:r>
            <a:r>
              <a:rPr b="0" sz="1800"/>
              <a:t>Identify growth opportunities early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 Retaining People</a:t>
            </a:r>
          </a:p>
        </p:txBody>
      </p:sp>
      <p:sp>
        <p:nvSpPr>
          <p:cNvPr id="3" name="Content Placeholder 2"/>
          <p:cNvSpPr>
            <a:spLocks noGrp="1"/>
          </p:cNvSpPr>
          <p:nvPr>
            <p:ph idx="1"/>
          </p:nvPr>
        </p:nvSpPr>
        <p:spPr/>
        <p:txBody>
          <a:bodyPr/>
          <a:lstStyle/>
          <a:p>
            <a:pPr lvl="1"/>
            <a:r>
              <a:rPr b="1" sz="1800"/>
              <a:t>Career Management Model:</a:t>
            </a:r>
          </a:p>
          <a:p>
            <a:pPr lvl="1"/>
            <a:r>
              <a:rPr b="0" sz="1800"/>
              <a:t/>
            </a:r>
            <a:r>
              <a:rPr b="1" sz="1800"/>
              <a:t>Career Paths:</a:t>
            </a:r>
            <a:r>
              <a:rPr b="0" sz="1800"/>
              <a:t>Defined progression routes within each department</a:t>
            </a:r>
          </a:p>
          <a:p>
            <a:pPr lvl="1"/>
            <a:r>
              <a:rPr b="0" sz="1800"/>
              <a:t>Developer: Junior → Mid → Senior → Tech Lead</a:t>
            </a:r>
          </a:p>
          <a:p>
            <a:pPr lvl="1"/>
            <a:r>
              <a:rPr b="0" sz="1800"/>
              <a:t>Support: Specialist → Team Lead → Head of Customer Success</a:t>
            </a:r>
          </a:p>
          <a:p>
            <a:pPr lvl="1"/>
            <a:r>
              <a:rPr b="0" sz="1800"/>
              <a:t>Marketing: Specialist → Manager → CMO</a:t>
            </a:r>
          </a:p>
          <a:p>
            <a:pPr lvl="1"/>
            <a:r>
              <a:rPr b="0" sz="1800"/>
              <a:t/>
            </a:r>
            <a:r>
              <a:rPr b="1" sz="1800"/>
              <a:t>Individual Development Plans (IDPs):</a:t>
            </a:r>
            <a:r>
              <a:rPr b="0" sz="1800"/>
              <a:t>Personalized growth roadmaps</a:t>
            </a:r>
          </a:p>
          <a:p>
            <a:pPr lvl="1"/>
            <a:r>
              <a:rPr b="0" sz="1800"/>
              <a:t/>
            </a:r>
            <a:r>
              <a:rPr b="1" sz="1800"/>
              <a:t>Internal Mobility:</a:t>
            </a:r>
            <a:r>
              <a:rPr b="0" sz="1800"/>
              <a:t>Opportunities to move between departments (e.g., Support to Product)</a:t>
            </a:r>
          </a:p>
          <a:p>
            <a:pPr lvl="1"/>
            <a:r>
              <a:rPr b="1" sz="1800"/>
              <a:t>Retention Strategies:</a:t>
            </a:r>
          </a:p>
          <a:p>
            <a:pPr lvl="1"/>
            <a:r>
              <a:rPr b="0" sz="1800"/>
              <a:t/>
            </a:r>
            <a:r>
              <a:rPr b="1" sz="1800"/>
              <a:t>Competitive Compensation:</a:t>
            </a:r>
            <a:r>
              <a:rPr b="0" sz="1800"/>
              <a:t>Market-rate salaries with equity participation</a:t>
            </a:r>
          </a:p>
          <a:p>
            <a:pPr lvl="1"/>
            <a:r>
              <a:rPr b="0" sz="1800"/>
              <a:t/>
            </a:r>
            <a:r>
              <a:rPr b="1" sz="1800"/>
              <a:t>Work-Life Balance:</a:t>
            </a:r>
            <a:r>
              <a:rPr b="0" sz="1800"/>
              <a:t>Flexible working arrangements, remote-friendly culture</a:t>
            </a:r>
          </a:p>
          <a:p>
            <a:pPr lvl="1"/>
            <a:r>
              <a:rPr b="0" sz="1800"/>
              <a:t/>
            </a:r>
            <a:r>
              <a:rPr b="1" sz="1800"/>
              <a:t>Professional Growth:</a:t>
            </a:r>
            <a:r>
              <a:rPr b="0" sz="1800"/>
              <a:t>Training budgets, conference attendance, certifications</a:t>
            </a:r>
          </a:p>
          <a:p>
            <a:pPr lvl="1"/>
            <a:r>
              <a:rPr b="0" sz="1800"/>
              <a:t/>
            </a:r>
            <a:r>
              <a:rPr b="1" sz="1800"/>
              <a:t>Recognition Programs:</a:t>
            </a:r>
            <a:r>
              <a:rPr b="0" sz="1800"/>
              <a:t>Employee of the month, peer recognition, public acknowledgment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 Retaining People</a:t>
            </a:r>
          </a:p>
        </p:txBody>
      </p:sp>
      <p:sp>
        <p:nvSpPr>
          <p:cNvPr id="3" name="Content Placeholder 2"/>
          <p:cNvSpPr>
            <a:spLocks noGrp="1"/>
          </p:cNvSpPr>
          <p:nvPr>
            <p:ph idx="1"/>
          </p:nvPr>
        </p:nvSpPr>
        <p:spPr/>
        <p:txBody>
          <a:bodyPr/>
          <a:lstStyle/>
          <a:p>
            <a:pPr lvl="1"/>
            <a:r>
              <a:rPr b="0" sz="1800"/>
              <a:t/>
            </a:r>
            <a:r>
              <a:rPr b="1" sz="1800"/>
              <a:t>Culture of Transparency:</a:t>
            </a:r>
            <a:r>
              <a:rPr b="0" sz="1800"/>
              <a:t>Open communication about company performance and challenges</a:t>
            </a:r>
          </a:p>
          <a:p>
            <a:pPr lvl="1"/>
            <a:r>
              <a:rPr b="0" sz="1800"/>
              <a:t/>
            </a:r>
            <a:r>
              <a:rPr b="1" sz="1800"/>
              <a:t>Purpose-Driven Work:</a:t>
            </a:r>
            <a:r>
              <a:rPr b="0" sz="1800"/>
              <a:t>Connect daily tasks to company mission and customer impact</a:t>
            </a:r>
          </a:p>
          <a:p>
            <a:pPr lvl="1"/>
            <a:r>
              <a:rPr b="1" sz="1800"/>
              <a:t>Addressing Retention Challenges:</a:t>
            </a:r>
          </a:p>
          <a:p>
            <a:pPr lvl="1"/>
            <a:r>
              <a:rPr b="0" sz="1800"/>
              <a:t/>
            </a:r>
            <a:r>
              <a:rPr b="1" sz="1800"/>
              <a:t>High Competition:</a:t>
            </a:r>
            <a:r>
              <a:rPr b="0" sz="1800"/>
              <a:t>Tech talent is in high demand</a:t>
            </a:r>
          </a:p>
          <a:p>
            <a:pPr lvl="1"/>
            <a:r>
              <a:rPr b="0" sz="1800"/>
              <a:t>Mitigation: Competitive packages, strong culture, meaningful work</a:t>
            </a:r>
          </a:p>
          <a:p>
            <a:pPr lvl="1"/>
            <a:r>
              <a:rPr b="0" sz="1800"/>
              <a:t/>
            </a:r>
            <a:r>
              <a:rPr b="1" sz="1800"/>
              <a:t>Startup Uncertainty:</a:t>
            </a:r>
            <a:r>
              <a:rPr b="0" sz="1800"/>
              <a:t>Early-stage company risks</a:t>
            </a:r>
          </a:p>
          <a:p>
            <a:pPr lvl="1"/>
            <a:r>
              <a:rPr b="0" sz="1800"/>
              <a:t>Mitigation: Clear communication, equity participation, growth opportunities</a:t>
            </a:r>
          </a:p>
          <a:p>
            <a:pPr lvl="1"/>
            <a:r>
              <a:rPr b="0" sz="1800"/>
              <a:t/>
            </a:r>
            <a:r>
              <a:rPr b="1" sz="1800"/>
              <a:t>Burnout Prevention:</a:t>
            </a:r>
            <a:r>
              <a:rPr b="0" sz="1800"/>
              <a:t>Fast-paced environment</a:t>
            </a:r>
          </a:p>
          <a:p>
            <a:pPr lvl="1"/>
            <a:r>
              <a:rPr b="0" sz="1800"/>
              <a:t>Mitigation: Realistic deadlines, work-life balance, mental health support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 Rewarding People</a:t>
            </a:r>
          </a:p>
        </p:txBody>
      </p:sp>
      <p:sp>
        <p:nvSpPr>
          <p:cNvPr id="3" name="Content Placeholder 2"/>
          <p:cNvSpPr>
            <a:spLocks noGrp="1"/>
          </p:cNvSpPr>
          <p:nvPr>
            <p:ph idx="1"/>
          </p:nvPr>
        </p:nvSpPr>
        <p:spPr/>
        <p:txBody>
          <a:bodyPr/>
          <a:lstStyle/>
          <a:p>
            <a:pPr lvl="1"/>
            <a:r>
              <a:rPr b="1" sz="1800"/>
              <a:t>Compensation Model:</a:t>
            </a:r>
          </a:p>
          <a:p>
            <a:pPr lvl="1"/>
            <a:r>
              <a:rPr b="0" sz="1800"/>
              <a:t/>
            </a:r>
            <a:r>
              <a:rPr b="1" sz="1800"/>
              <a:t>Base Salary:</a:t>
            </a:r>
            <a:r>
              <a:rPr b="0" sz="1800"/>
              <a:t>Competitive market rates based on role and experience</a:t>
            </a:r>
          </a:p>
          <a:p>
            <a:pPr lvl="1"/>
            <a:r>
              <a:rPr b="0" sz="1800"/>
              <a:t/>
            </a:r>
            <a:r>
              <a:rPr b="1" sz="1800"/>
              <a:t>Equity Participation:</a:t>
            </a:r>
            <a:r>
              <a:rPr b="0" sz="1800"/>
              <a:t>Stock options for all employees (vesting over 4 years)</a:t>
            </a:r>
          </a:p>
          <a:p>
            <a:pPr lvl="1"/>
            <a:r>
              <a:rPr b="0" sz="1800"/>
              <a:t/>
            </a:r>
            <a:r>
              <a:rPr b="1" sz="1800"/>
              <a:t>Performance Bonuses:</a:t>
            </a:r>
            <a:r>
              <a:rPr b="0" sz="1800"/>
              <a:t>Annual bonuses tied to individual and company performance</a:t>
            </a:r>
          </a:p>
          <a:p>
            <a:pPr lvl="1"/>
            <a:r>
              <a:rPr b="0" sz="1800"/>
              <a:t/>
            </a:r>
            <a:r>
              <a:rPr b="1" sz="1800"/>
              <a:t>Benefits Package:</a:t>
            </a:r>
          </a:p>
          <a:p>
            <a:pPr lvl="1"/>
            <a:r>
              <a:rPr b="0" sz="1800"/>
              <a:t>Health insurance</a:t>
            </a:r>
          </a:p>
          <a:p>
            <a:pPr lvl="1"/>
            <a:r>
              <a:rPr b="0" sz="1800"/>
              <a:t>Professional development budget (€1,000-2,000/year per employee)</a:t>
            </a:r>
          </a:p>
          <a:p>
            <a:pPr lvl="1"/>
            <a:r>
              <a:rPr b="0" sz="1800"/>
              <a:t>Flexible PTO (paid time off)</a:t>
            </a:r>
          </a:p>
          <a:p>
            <a:pPr lvl="1"/>
            <a:r>
              <a:rPr b="0" sz="1800"/>
              <a:t>Remote work stipend (home office setup)</a:t>
            </a:r>
          </a:p>
          <a:p>
            <a:pPr lvl="1"/>
            <a:r>
              <a:rPr b="1" sz="1800"/>
              <a:t>Incentive Schemes:</a:t>
            </a:r>
          </a:p>
          <a:p>
            <a:pPr lvl="1"/>
            <a:r>
              <a:rPr b="0" sz="1800"/>
              <a:t/>
            </a:r>
            <a:r>
              <a:rPr b="1" sz="1800"/>
              <a:t>Sales Commission:</a:t>
            </a:r>
            <a:r>
              <a:rPr b="0" sz="1800"/>
              <a:t>For sales team members (percentage of closed deals)</a:t>
            </a:r>
          </a:p>
          <a:p>
            <a:pPr lvl="1"/>
            <a:r>
              <a:rPr b="0" sz="1800"/>
              <a:t/>
            </a:r>
            <a:r>
              <a:rPr b="1" sz="1800"/>
              <a:t>Referral Bonuses:</a:t>
            </a:r>
            <a:r>
              <a:rPr b="0" sz="1800"/>
              <a:t>€500-1,000 for successful employee referrals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 Rewarding People</a:t>
            </a:r>
          </a:p>
        </p:txBody>
      </p:sp>
      <p:sp>
        <p:nvSpPr>
          <p:cNvPr id="3" name="Content Placeholder 2"/>
          <p:cNvSpPr>
            <a:spLocks noGrp="1"/>
          </p:cNvSpPr>
          <p:nvPr>
            <p:ph idx="1"/>
          </p:nvPr>
        </p:nvSpPr>
        <p:spPr/>
        <p:txBody>
          <a:bodyPr/>
          <a:lstStyle/>
          <a:p>
            <a:pPr lvl="1"/>
            <a:r>
              <a:rPr b="0" sz="1800"/>
              <a:t/>
            </a:r>
            <a:r>
              <a:rPr b="1" sz="1800"/>
              <a:t>Innovation Rewards:</a:t>
            </a:r>
            <a:r>
              <a:rPr b="0" sz="1800"/>
              <a:t>Recognition and bonuses for process improvements or feature ideas</a:t>
            </a:r>
          </a:p>
          <a:p>
            <a:pPr lvl="1"/>
            <a:r>
              <a:rPr b="0" sz="1800"/>
              <a:t/>
            </a:r>
            <a:r>
              <a:rPr b="1" sz="1800"/>
              <a:t>Retention Bonuses:</a:t>
            </a:r>
            <a:r>
              <a:rPr b="0" sz="1800"/>
              <a:t>Milestone rewards (1-year, 2-year anniversaries)</a:t>
            </a:r>
          </a:p>
          <a:p>
            <a:pPr lvl="1"/>
            <a:r>
              <a:rPr b="0" sz="1800"/>
              <a:t/>
            </a:r>
            <a:r>
              <a:rPr b="1" sz="1800"/>
              <a:t>Team Performance:</a:t>
            </a:r>
            <a:r>
              <a:rPr b="0" sz="1800"/>
              <a:t>Department bonuses when team goals are exceeded</a:t>
            </a:r>
          </a:p>
          <a:p>
            <a:pPr lvl="1"/>
            <a:r>
              <a:rPr b="1" sz="1800"/>
              <a:t>Total Rewards Philosophy:</a:t>
            </a:r>
          </a:p>
          <a:p>
            <a:pPr lvl="1"/>
            <a:r>
              <a:rPr b="0" sz="1800"/>
              <a:t>Balance between fixed (salary) and variable (bonuses, equity) compensation</a:t>
            </a:r>
          </a:p>
          <a:p>
            <a:pPr lvl="1"/>
            <a:r>
              <a:rPr b="0" sz="1800"/>
              <a:t>Emphasize long-term value through equity participation</a:t>
            </a:r>
          </a:p>
          <a:p>
            <a:pPr lvl="1"/>
            <a:r>
              <a:rPr b="0" sz="1800"/>
              <a:t>Recognize both individual contributions and team collaboration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5.4.6. Developing People</a:t>
            </a:r>
          </a:p>
        </p:txBody>
      </p:sp>
      <p:sp>
        <p:nvSpPr>
          <p:cNvPr id="3" name="Content Placeholder 2"/>
          <p:cNvSpPr>
            <a:spLocks noGrp="1"/>
          </p:cNvSpPr>
          <p:nvPr>
            <p:ph idx="1"/>
          </p:nvPr>
        </p:nvSpPr>
        <p:spPr/>
        <p:txBody>
          <a:bodyPr/>
          <a:lstStyle/>
          <a:p>
            <a:pPr lvl="1"/>
            <a:r>
              <a:rPr b="1" sz="1800"/>
              <a:t>Training and Development Management:</a:t>
            </a:r>
          </a:p>
          <a:p>
            <a:pPr lvl="1"/>
            <a:r>
              <a:rPr b="0" sz="1800"/>
              <a:t/>
            </a:r>
            <a:r>
              <a:rPr b="1" sz="1800"/>
              <a:t>Onboarding Training:</a:t>
            </a:r>
          </a:p>
          <a:p>
            <a:pPr lvl="1"/>
            <a:r>
              <a:rPr b="0" sz="1800"/>
              <a:t>Product knowledge (understand AdFlux platform deeply)</a:t>
            </a:r>
          </a:p>
          <a:p>
            <a:pPr lvl="1"/>
            <a:r>
              <a:rPr b="0" sz="1800"/>
              <a:t>Customer personas and pain points</a:t>
            </a:r>
          </a:p>
          <a:p>
            <a:pPr lvl="1"/>
            <a:r>
              <a:rPr b="0" sz="1800"/>
              <a:t>Company culture and values</a:t>
            </a:r>
          </a:p>
          <a:p>
            <a:pPr lvl="1"/>
            <a:r>
              <a:rPr b="0" sz="1800"/>
              <a:t/>
            </a:r>
            <a:r>
              <a:rPr b="1" sz="1800"/>
              <a:t>Continuous Learning:</a:t>
            </a:r>
          </a:p>
          <a:p>
            <a:pPr lvl="1"/>
            <a:r>
              <a:rPr b="0" sz="1800"/>
              <a:t/>
            </a:r>
            <a:r>
              <a:rPr b="1" sz="1800"/>
              <a:t>Technical Training:</a:t>
            </a:r>
          </a:p>
          <a:p>
            <a:pPr lvl="1"/>
            <a:r>
              <a:rPr b="0" sz="1800"/>
              <a:t>Developers: API best practices, cloud architecture workshops</a:t>
            </a:r>
          </a:p>
          <a:p>
            <a:pPr lvl="1"/>
            <a:r>
              <a:rPr b="0" sz="1800"/>
              <a:t>Designers: UX research methods, design system updates</a:t>
            </a:r>
          </a:p>
          <a:p>
            <a:pPr lvl="1"/>
            <a:r>
              <a:rPr b="0" sz="1800"/>
              <a:t/>
            </a:r>
            <a:r>
              <a:rPr b="1" sz="1800"/>
              <a:t>Soft Skills:</a:t>
            </a:r>
            <a:r>
              <a:rPr b="0" sz="1800"/>
              <a:t>Communication, leadership, customer service</a:t>
            </a:r>
          </a:p>
          <a:p>
            <a:pPr lvl="1"/>
            <a:r>
              <a:rPr b="0" sz="1800"/>
              <a:t/>
            </a:r>
            <a:r>
              <a:rPr b="1" sz="1800"/>
              <a:t>Industry Knowledge:</a:t>
            </a:r>
            <a:r>
              <a:rPr b="0" sz="1800"/>
              <a:t>E-commerce trends, marketplace updates</a:t>
            </a:r>
          </a:p>
          <a:p>
            <a:pPr lvl="1"/>
            <a:r>
              <a:rPr b="0" sz="1800"/>
              <a:t/>
            </a:r>
            <a:r>
              <a:rPr b="1" sz="1800"/>
              <a:t>External Development: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5.4.6. Developing People</a:t>
            </a:r>
          </a:p>
        </p:txBody>
      </p:sp>
      <p:sp>
        <p:nvSpPr>
          <p:cNvPr id="3" name="Content Placeholder 2"/>
          <p:cNvSpPr>
            <a:spLocks noGrp="1"/>
          </p:cNvSpPr>
          <p:nvPr>
            <p:ph idx="1"/>
          </p:nvPr>
        </p:nvSpPr>
        <p:spPr/>
        <p:txBody>
          <a:bodyPr/>
          <a:lstStyle/>
          <a:p>
            <a:pPr lvl="1"/>
            <a:r>
              <a:rPr b="0" sz="1800"/>
              <a:t>Conference attendance (company-sponsored)</a:t>
            </a:r>
          </a:p>
          <a:p>
            <a:pPr lvl="1"/>
            <a:r>
              <a:rPr b="0" sz="1800"/>
              <a:t>Online courses and certifications (Coursera, Udemy, etc.)</a:t>
            </a:r>
          </a:p>
          <a:p>
            <a:pPr lvl="1"/>
            <a:r>
              <a:rPr b="0" sz="1800"/>
              <a:t>Professional memberships and networking events</a:t>
            </a:r>
          </a:p>
          <a:p>
            <a:pPr lvl="1"/>
            <a:r>
              <a:rPr b="1" sz="1800"/>
              <a:t>Knowledge Management:</a:t>
            </a:r>
          </a:p>
          <a:p>
            <a:pPr lvl="1"/>
            <a:r>
              <a:rPr b="0" sz="1800"/>
              <a:t/>
            </a:r>
            <a:r>
              <a:rPr b="1" sz="1800"/>
              <a:t>Documentation:</a:t>
            </a:r>
            <a:r>
              <a:rPr b="0" sz="1800"/>
              <a:t>Comprehensive internal wiki (product specs, processes, best practices)</a:t>
            </a:r>
          </a:p>
          <a:p>
            <a:pPr lvl="1"/>
            <a:r>
              <a:rPr b="0" sz="1800"/>
              <a:t/>
            </a:r>
            <a:r>
              <a:rPr b="1" sz="1800"/>
              <a:t>Knowledge Sharing:</a:t>
            </a:r>
          </a:p>
          <a:p>
            <a:pPr lvl="1"/>
            <a:r>
              <a:rPr b="0" sz="1800"/>
              <a:t>Weekly tech talks (team members present learnings)</a:t>
            </a:r>
          </a:p>
          <a:p>
            <a:pPr lvl="1"/>
            <a:r>
              <a:rPr b="0" sz="1800"/>
              <a:t>Post-mortems after major releases or incidents</a:t>
            </a:r>
          </a:p>
          <a:p>
            <a:pPr lvl="1"/>
            <a:r>
              <a:rPr b="0" sz="1800"/>
              <a:t>Cross-functional training sessions</a:t>
            </a:r>
          </a:p>
          <a:p>
            <a:pPr lvl="1"/>
            <a:r>
              <a:rPr b="0" sz="1800"/>
              <a:t/>
            </a:r>
            <a:r>
              <a:rPr b="1" sz="1800"/>
              <a:t>Mentorship Program:</a:t>
            </a:r>
          </a:p>
          <a:p>
            <a:pPr lvl="1"/>
            <a:r>
              <a:rPr b="0" sz="1800"/>
              <a:t>Pair junior employees with senior mentors</a:t>
            </a:r>
          </a:p>
          <a:p>
            <a:pPr lvl="1"/>
            <a:r>
              <a:rPr b="0" sz="1800"/>
              <a:t>Reverse mentoring (juniors teach seniors about new tools/trends)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5.4.6. Developing People</a:t>
            </a:r>
          </a:p>
        </p:txBody>
      </p:sp>
      <p:sp>
        <p:nvSpPr>
          <p:cNvPr id="3" name="Content Placeholder 2"/>
          <p:cNvSpPr>
            <a:spLocks noGrp="1"/>
          </p:cNvSpPr>
          <p:nvPr>
            <p:ph idx="1"/>
          </p:nvPr>
        </p:nvSpPr>
        <p:spPr/>
        <p:txBody>
          <a:bodyPr/>
          <a:lstStyle/>
          <a:p>
            <a:pPr lvl="1"/>
            <a:r>
              <a:rPr b="0" sz="1800"/>
              <a:t/>
            </a:r>
            <a:r>
              <a:rPr b="1" sz="1800"/>
              <a:t>Learning Culture:</a:t>
            </a:r>
          </a:p>
          <a:p>
            <a:pPr lvl="1"/>
            <a:r>
              <a:rPr b="0" sz="1800"/>
              <a:t>Encourage experimentation and learning from failures</a:t>
            </a:r>
          </a:p>
          <a:p>
            <a:pPr lvl="1"/>
            <a:r>
              <a:rPr b="0" sz="1800"/>
              <a:t>Allocate 10% time for personal projects or skill development</a:t>
            </a:r>
          </a:p>
          <a:p>
            <a:pPr lvl="1"/>
            <a:r>
              <a:rPr b="0" sz="1800"/>
              <a:t>Celebrate learning achievements and certifications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Organizational Culture</a:t>
            </a:r>
          </a:p>
        </p:txBody>
      </p:sp>
      <p:sp>
        <p:nvSpPr>
          <p:cNvPr id="3" name="Content Placeholder 2"/>
          <p:cNvSpPr>
            <a:spLocks noGrp="1"/>
          </p:cNvSpPr>
          <p:nvPr>
            <p:ph idx="1"/>
          </p:nvPr>
        </p:nvSpPr>
        <p:spPr/>
        <p:txBody>
          <a:bodyPr/>
          <a:lstStyle/>
          <a:p>
            <a:pPr lvl="1"/>
            <a:r>
              <a:rPr b="1" sz="1800"/>
              <a:t>Core Values Integration:</a:t>
            </a:r>
          </a:p>
          <a:p>
            <a:pPr lvl="1"/>
            <a:r>
              <a:rPr b="0" sz="1800"/>
              <a:t/>
            </a:r>
            <a:r>
              <a:rPr b="1" sz="1800"/>
              <a:t>Simplicity:</a:t>
            </a:r>
            <a:r>
              <a:rPr b="0" sz="1800"/>
              <a:t>All processes and communications should be clear and straightforward</a:t>
            </a:r>
          </a:p>
          <a:p>
            <a:pPr lvl="1"/>
            <a:r>
              <a:rPr b="0" sz="1800"/>
              <a:t/>
            </a:r>
            <a:r>
              <a:rPr b="1" sz="1800"/>
              <a:t>Efficiency:</a:t>
            </a:r>
            <a:r>
              <a:rPr b="0" sz="1800"/>
              <a:t>Eliminate bureaucracy; focus on what drives value</a:t>
            </a:r>
          </a:p>
          <a:p>
            <a:pPr lvl="1"/>
            <a:r>
              <a:rPr b="0" sz="1800"/>
              <a:t/>
            </a:r>
            <a:r>
              <a:rPr b="1" sz="1800"/>
              <a:t>Transparency:</a:t>
            </a:r>
            <a:r>
              <a:rPr b="0" sz="1800"/>
              <a:t>Open communication about company performance, challenges, and decisions</a:t>
            </a:r>
          </a:p>
          <a:p>
            <a:pPr lvl="1"/>
            <a:r>
              <a:rPr b="0" sz="1800"/>
              <a:t/>
            </a:r>
            <a:r>
              <a:rPr b="1" sz="1800"/>
              <a:t>Customer Focus:</a:t>
            </a:r>
            <a:r>
              <a:rPr b="0" sz="1800"/>
              <a:t>Every decision should consider customer impact; feature development prioritized by user feedback data</a:t>
            </a:r>
          </a:p>
          <a:p>
            <a:pPr lvl="1"/>
            <a:r>
              <a:rPr b="0" sz="1800"/>
              <a:t/>
            </a:r>
            <a:r>
              <a:rPr b="1" sz="1800"/>
              <a:t>Strategic Partnerships:</a:t>
            </a:r>
            <a:r>
              <a:rPr b="0" sz="1800"/>
              <a:t>Collaborative approach both externally (marketplaces) and internally (cross-functional teams)</a:t>
            </a:r>
          </a:p>
          <a:p>
            <a:pPr lvl="1"/>
            <a:r>
              <a:rPr b="1" sz="1800"/>
              <a:t>HR Model Approach:</a:t>
            </a:r>
          </a:p>
          <a:p>
            <a:pPr/>
            <a:r>
              <a:rPr b="0" sz="1800"/>
              <a:t>AdFlux adopts a</a:t>
            </a:r>
            <a:r>
              <a:rPr b="1" sz="1800"/>
              <a:t>Hybrid Model</a:t>
            </a:r>
            <a:r>
              <a:rPr b="0" sz="1800"/>
              <a:t>combining elements of both Hard and Soft approaches:</a:t>
            </a:r>
          </a:p>
          <a:p>
            <a:pPr lvl="1"/>
            <a:r>
              <a:rPr b="0" sz="1800"/>
              <a:t/>
            </a:r>
            <a:r>
              <a:rPr b="1" sz="1800"/>
              <a:t>Hard Elements:</a:t>
            </a:r>
            <a:r>
              <a:rPr b="0" sz="1800"/>
              <a:t>Strategic alignment of HR with business objectives, data-driven performance metrics, integration of people management with company strategy</a:t>
            </a:r>
          </a:p>
          <a:p>
            <a:pPr lvl="1"/>
            <a:r>
              <a:rPr b="0" sz="1800"/>
              <a:t/>
            </a:r>
            <a:r>
              <a:rPr b="1" sz="1800"/>
              <a:t>Soft Elements:</a:t>
            </a:r>
            <a:r>
              <a:rPr b="0" sz="1800"/>
              <a:t>People as valuable assets, emphasis on development and growth, proactive communication and motivation, leadership focus on empowerment</a:t>
            </a:r>
          </a:p>
          <a:p>
            <a:pPr/>
            <a:r>
              <a:rPr b="0" sz="1800"/>
              <a:t>This hybrid approach recognizes that people are both strategic resources (Hard) and valuable assets requiring investment in their growth and well-being (Soft).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 Organizational Evolution Plan</a:t>
            </a:r>
          </a:p>
        </p:txBody>
      </p:sp>
      <p:sp>
        <p:nvSpPr>
          <p:cNvPr id="3" name="Content Placeholder 2"/>
          <p:cNvSpPr>
            <a:spLocks noGrp="1"/>
          </p:cNvSpPr>
          <p:nvPr>
            <p:ph idx="1"/>
          </p:nvPr>
        </p:nvSpPr>
        <p:spPr/>
        <p:txBody>
          <a:bodyPr/>
          <a:lstStyle/>
          <a:p>
            <a:pPr lvl="1"/>
            <a:r>
              <a:rPr b="1" sz="1800"/>
              <a:t>Year 1 (Startup Phase - 10-15 employees):</a:t>
            </a:r>
          </a:p>
          <a:p>
            <a:pPr lvl="1"/>
            <a:r>
              <a:rPr b="0" sz="1800"/>
              <a:t>Flat structure with direct communication</a:t>
            </a:r>
          </a:p>
          <a:p>
            <a:pPr lvl="1"/>
            <a:r>
              <a:rPr b="0" sz="1800"/>
              <a:t>Focus on hiring core technical and customer-facing roles</a:t>
            </a:r>
          </a:p>
          <a:p>
            <a:pPr lvl="1"/>
            <a:r>
              <a:rPr b="0" sz="1800"/>
              <a:t>Establish basic HR processes and culture</a:t>
            </a:r>
          </a:p>
          <a:p>
            <a:pPr lvl="1"/>
            <a:r>
              <a:rPr b="1" sz="1800"/>
              <a:t>Year 2 (Growth Phase - 20-30 employees):</a:t>
            </a:r>
          </a:p>
          <a:p>
            <a:pPr lvl="1"/>
            <a:r>
              <a:rPr b="0" sz="1800"/>
              <a:t>Introduce middle management layer (Team Leads)</a:t>
            </a:r>
          </a:p>
          <a:p>
            <a:pPr lvl="1"/>
            <a:r>
              <a:rPr b="0" sz="1800"/>
              <a:t>Formalize HR processes (performance reviews, career paths)</a:t>
            </a:r>
          </a:p>
          <a:p>
            <a:pPr lvl="1"/>
            <a:r>
              <a:rPr b="0" sz="1800"/>
              <a:t>Expand departments based on business needs</a:t>
            </a:r>
          </a:p>
          <a:p>
            <a:pPr lvl="1"/>
            <a:r>
              <a:rPr b="1" sz="1800"/>
              <a:t>Year 3+ (Scale Phase - 30+ employees):</a:t>
            </a:r>
          </a:p>
          <a:p>
            <a:pPr lvl="1"/>
            <a:r>
              <a:rPr b="0" sz="1800"/>
              <a:t>More structured hierarchy with clear reporting lines</a:t>
            </a:r>
          </a:p>
          <a:p>
            <a:pPr lvl="1"/>
            <a:r>
              <a:rPr b="0" sz="1800"/>
              <a:t>Specialized roles and departments</a:t>
            </a:r>
          </a:p>
          <a:p>
            <a:pPr lvl="1"/>
            <a:r>
              <a:rPr b="0" sz="1800"/>
              <a:t>Advanced HR systems and programs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 Organizational Evolution Plan</a:t>
            </a:r>
          </a:p>
        </p:txBody>
      </p:sp>
      <p:sp>
        <p:nvSpPr>
          <p:cNvPr id="3" name="Content Placeholder 2"/>
          <p:cNvSpPr>
            <a:spLocks noGrp="1"/>
          </p:cNvSpPr>
          <p:nvPr>
            <p:ph idx="1"/>
          </p:nvPr>
        </p:nvSpPr>
        <p:spPr/>
        <p:txBody>
          <a:bodyPr/>
          <a:lstStyle/>
          <a:p>
            <a:pPr lvl="1"/>
            <a:r>
              <a:rPr b="0" sz="1800"/>
              <a:t>Focus on retention and internal development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Strategic Roadmap: From Consolidation to Enterprise Partnership</a:t>
            </a:r>
          </a:p>
        </p:txBody>
      </p:sp>
      <p:sp>
        <p:nvSpPr>
          <p:cNvPr id="3" name="Content Placeholder 2"/>
          <p:cNvSpPr>
            <a:spLocks noGrp="1"/>
          </p:cNvSpPr>
          <p:nvPr>
            <p:ph idx="1"/>
          </p:nvPr>
        </p:nvSpPr>
        <p:spPr/>
        <p:txBody>
          <a:bodyPr/>
          <a:lstStyle/>
          <a:p>
            <a:pPr/>
            <a:r>
              <a:rPr b="0" sz="1800"/>
              <a:t>Our long-term vision extends beyond the initial SME market. We will execute a phased strategy:</a:t>
            </a:r>
          </a:p>
          <a:p>
            <a:pPr lvl="1"/>
            <a:r>
              <a:rPr b="0" sz="1800"/>
              <a:t/>
            </a:r>
            <a:r>
              <a:rPr b="1" sz="1800"/>
              <a:t>Phase 1: Consolidate the SME Market.</a:t>
            </a:r>
            <a:r>
              <a:rPr b="0" sz="1800"/>
              <a:t>Our immediate priority is to become the leading solution for small and medium sellers by integrating with the ERPs they already use. This builds a stable foundation and a strong user base.</a:t>
            </a:r>
          </a:p>
          <a:p>
            <a:pPr lvl="1"/>
            <a:r>
              <a:rPr b="0" sz="1800"/>
              <a:t/>
            </a:r>
            <a:r>
              <a:rPr b="1" sz="1800"/>
              <a:t>Phase 2: Secure a Strategic Enterprise Partner.</a:t>
            </a:r>
            <a:r>
              <a:rPr b="0" sz="1800"/>
              <a:t>Instead of competing with giants like Rithum to build a massive, all-encompassing ERP, we will leverage our established position to form a deep partnership with a single, large enterprise customer.</a:t>
            </a:r>
          </a:p>
          <a:p>
            <a:pPr lvl="1"/>
            <a:r>
              <a:rPr b="0" sz="1800"/>
              <a:t/>
            </a:r>
            <a:r>
              <a:rPr b="1" sz="1800"/>
              <a:t>Phase 3: Deep Integration and Shared Success.</a:t>
            </a:r>
            <a:r>
              <a:rPr b="0" sz="1800"/>
              <a:t>We will integrate our system directly into the enterprise partner's workflow, adapting our technology to their specific needs. This partnership will be based on a shared success model, where AdFlux takes a percentage of sales generated through our platform, ensuring continuous support and aligned goals.</a:t>
            </a:r>
          </a:p>
          <a:p>
            <a:pPr/>
            <a:r>
              <a:rPr b="0" sz="1800"/>
              <a:t>This approach allows us to grow sustainably, avoid direct competition with market giants, and create a powerful relationship with a major player in the e-commerce space.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Implementation Roadmap</a:t>
            </a:r>
          </a:p>
        </p:txBody>
      </p:sp>
      <p:sp>
        <p:nvSpPr>
          <p:cNvPr id="3" name="Content Placeholder 2"/>
          <p:cNvSpPr>
            <a:spLocks noGrp="1"/>
          </p:cNvSpPr>
          <p:nvPr>
            <p:ph idx="1"/>
          </p:nvPr>
        </p:nvSpPr>
        <p:spPr/>
        <p:txBody>
          <a:bodyPr/>
          <a:lstStyle/>
          <a:p>
            <a:pPr lvl="1"/>
            <a:r>
              <a:rPr b="0" sz="1800"/>
              <a:t/>
            </a:r>
            <a:r>
              <a:rPr b="1" sz="1800"/>
              <a:t>Phase 1: Initiation (0-3 Months):</a:t>
            </a:r>
            <a:r>
              <a:rPr b="0" sz="1800"/>
              <a:t>Finalize legal documentation, assemble technical team, obtain initial investment, and launch marketing teaser.</a:t>
            </a:r>
          </a:p>
          <a:p>
            <a:pPr lvl="1"/>
            <a:r>
              <a:rPr b="0" sz="1800"/>
              <a:t/>
            </a:r>
            <a:r>
              <a:rPr b="1" sz="1800"/>
              <a:t>Phase 2: Development (3-6 Months):</a:t>
            </a:r>
          </a:p>
          <a:p>
            <a:pPr lvl="1"/>
            <a:r>
              <a:rPr b="0" sz="1800"/>
              <a:t/>
            </a:r>
            <a:r>
              <a:rPr b="1" sz="1800"/>
              <a:t>Goal:</a:t>
            </a:r>
            <a:r>
              <a:rPr b="0" sz="1800"/>
              <a:t>Build MVP.</a:t>
            </a:r>
          </a:p>
          <a:p>
            <a:pPr lvl="1"/>
            <a:r>
              <a:rPr b="0" sz="1800"/>
              <a:t/>
            </a:r>
            <a:r>
              <a:rPr b="1" sz="1800"/>
              <a:t>Priority:</a:t>
            </a:r>
            <a:r>
              <a:rPr b="0" sz="1800"/>
              <a:t>Core "Product Publisher" + Amazon/OLX API integrations.</a:t>
            </a:r>
          </a:p>
          <a:p>
            <a:pPr lvl="1"/>
            <a:r>
              <a:rPr b="0" sz="1800"/>
              <a:t/>
            </a:r>
            <a:r>
              <a:rPr b="1" sz="1800"/>
              <a:t>Milestone:</a:t>
            </a:r>
            <a:r>
              <a:rPr b="0" sz="1800"/>
              <a:t>Functional Prototype and User Testing with "Power Users".</a:t>
            </a:r>
          </a:p>
          <a:p>
            <a:pPr lvl="1"/>
            <a:r>
              <a:rPr b="0" sz="1800"/>
              <a:t/>
            </a:r>
            <a:r>
              <a:rPr b="1" sz="1800"/>
              <a:t>Phase 3: Beta &amp; Launch (6-12 Months):</a:t>
            </a:r>
            <a:r>
              <a:rPr b="0" sz="1800"/>
              <a:t>Release Beta version, execute official marketing launch, and begin expansion to secondary marketplaces.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Risk Management</a:t>
            </a:r>
          </a:p>
        </p:txBody>
      </p:sp>
      <p:sp>
        <p:nvSpPr>
          <p:cNvPr id="3" name="Content Placeholder 2"/>
          <p:cNvSpPr>
            <a:spLocks noGrp="1"/>
          </p:cNvSpPr>
          <p:nvPr>
            <p:ph idx="1"/>
          </p:nvPr>
        </p:nvSpPr>
        <p:spPr/>
        <p:txBody>
          <a:bodyPr/>
          <a:lstStyle/>
          <a:p>
            <a:pPr lvl="1"/>
            <a:r>
              <a:rPr b="0" sz="1800"/>
              <a:t/>
            </a:r>
            <a:r>
              <a:rPr b="1" sz="1800"/>
              <a:t>Marketplace Dependency Risk (High):</a:t>
            </a:r>
            <a:r>
              <a:rPr b="0" sz="1800"/>
              <a:t>Our reliance on third-party APIs creates a significant risk if marketplaces change their policies, restrict access, or become temporarily unavailable.</a:t>
            </a:r>
          </a:p>
          <a:p>
            <a:pPr lvl="1"/>
            <a:r>
              <a:rPr b="0" sz="1800"/>
              <a:t/>
            </a:r>
            <a:r>
              <a:rPr b="1" sz="1800"/>
              <a:t>Mitigation:</a:t>
            </a:r>
            <a:r>
              <a:rPr b="0" sz="1800"/>
              <a:t>We will build a robust and flexible architecture that can adapt quickly to API changes. We will also prioritize strong relationships with marketplaces and diversify the number of integrated platforms to reduce dependency on any single one.</a:t>
            </a:r>
          </a:p>
          <a:p>
            <a:pPr lvl="1"/>
            <a:r>
              <a:rPr b="0" sz="1800"/>
              <a:t/>
            </a:r>
            <a:r>
              <a:rPr b="1" sz="1800"/>
              <a:t>Market Adoption Risk (Medium-High):</a:t>
            </a:r>
            <a:r>
              <a:rPr b="0" sz="1800"/>
              <a:t>As identified in our weaknesses, we face challenges with initial brand recognition and the need for market education. Small sellers might resist adopting a new tool until a clear ROI is proven.</a:t>
            </a:r>
          </a:p>
          <a:p>
            <a:pPr lvl="1"/>
            <a:r>
              <a:rPr b="0" sz="1800"/>
              <a:t/>
            </a:r>
            <a:r>
              <a:rPr b="1" sz="1800"/>
              <a:t>Mitigation:</a:t>
            </a:r>
            <a:r>
              <a:rPr b="0" sz="1800"/>
              <a:t>Our marketing plan directly addresses this with educational content. The "Freemium" tier of our pricing strategy is designed to lower the barrier to entry, allowing sellers to experience the value of AdFlux firsthand. Excellent customer support during onboarding will be critical.</a:t>
            </a:r>
          </a:p>
          <a:p>
            <a:pPr lvl="1"/>
            <a:r>
              <a:rPr b="0" sz="1800"/>
              <a:t/>
            </a:r>
            <a:r>
              <a:rPr b="1" sz="1800"/>
              <a:t>Competition Risk (High):</a:t>
            </a:r>
            <a:r>
              <a:rPr b="0" sz="1800"/>
              <a:t>The market includes established players like Plugg.to, Olist, and AnyMarket, and new, lightweight alternatives could emerge.</a:t>
            </a:r>
          </a:p>
          <a:p>
            <a:pPr lvl="1"/>
            <a:r>
              <a:rPr b="0" sz="1800"/>
              <a:t/>
            </a:r>
            <a:r>
              <a:rPr b="1" sz="1800"/>
              <a:t>Mitigation:</a:t>
            </a:r>
            <a:r>
              <a:rPr b="0" sz="1800"/>
              <a:t>Our strategy is to focus on the underserved SME segment with a superior user experience and integrations with local marketplaces (like OLX) that larger competitors ignore. Continuous innovation and staying agile will be key.</a:t>
            </a:r>
          </a:p>
          <a:p>
            <a:pPr lvl="1"/>
            <a:r>
              <a:rPr b="0" sz="1800"/>
              <a:t/>
            </a:r>
            <a:r>
              <a:rPr b="1" sz="1800"/>
              <a:t>Technological &amp; Security Risk (Medium):</a:t>
            </a:r>
            <a:r>
              <a:rPr b="0" sz="1800"/>
              <a:t>Security breaches, server downtime, or data loss could severely damage our reputation and user trust.</a:t>
            </a:r>
          </a:p>
          <a:p>
            <a:pPr lvl="1"/>
            <a:r>
              <a:rPr b="0" sz="1800"/>
              <a:t/>
            </a:r>
            <a:r>
              <a:rPr b="1" sz="1800"/>
              <a:t>Mitigation:</a:t>
            </a:r>
            <a:r>
              <a:rPr b="0" sz="1800"/>
              <a:t>We will invest in best-in-class security practices and infrastructure. Regular security audits and a clear incident response plan will be implemented from day one.</a:t>
            </a:r>
          </a:p>
          <a:p>
            <a:pPr lvl="1"/>
            <a:r>
              <a:rPr b="0" sz="1800"/>
              <a:t/>
            </a:r>
            <a:r>
              <a:rPr b="1" sz="1800"/>
              <a:t>Financial Risk (Medium):</a:t>
            </a:r>
            <a:r>
              <a:rPr b="0" sz="1800"/>
              <a:t>A high churn rate or a higher-than-expected Customer Acquisition Cost (CAC) could impact our financial viability.</a:t>
            </a:r>
          </a:p>
          <a:p>
            <a:pPr lvl="1"/>
            <a:r>
              <a:rPr b="0" sz="1800"/>
              <a:t/>
            </a:r>
            <a:r>
              <a:rPr b="1" sz="1800"/>
              <a:t>Mitigation:</a:t>
            </a:r>
            <a:r>
              <a:rPr b="0" sz="1800"/>
              <a:t>We will closely monitor churn and CAC. Our focus on customer success and demonstrating ROI is our primary retention strategy. Tiered pricing and exploring partnerships as revenue streams will diversify our income.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 Starting Point and Sales Program</a:t>
            </a:r>
          </a:p>
        </p:txBody>
      </p:sp>
      <p:sp>
        <p:nvSpPr>
          <p:cNvPr id="3" name="Content Placeholder 2"/>
          <p:cNvSpPr>
            <a:spLocks noGrp="1"/>
          </p:cNvSpPr>
          <p:nvPr>
            <p:ph idx="1"/>
          </p:nvPr>
        </p:nvSpPr>
        <p:spPr/>
        <p:txBody>
          <a:bodyPr/>
          <a:lstStyle/>
          <a:p>
            <a:pPr/>
            <a:r>
              <a:rPr b="0" sz="1800"/>
              <a:t>The production plan is directly driven by the sales forecast from the marketing strategy. As a SaaS platform, "production" refers to ensuring the platform's capacity, features, and performance can meet the subscribed user demand.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 Forecasting</a:t>
            </a:r>
          </a:p>
        </p:txBody>
      </p:sp>
      <p:sp>
        <p:nvSpPr>
          <p:cNvPr id="3" name="Content Placeholder 2"/>
          <p:cNvSpPr>
            <a:spLocks noGrp="1"/>
          </p:cNvSpPr>
          <p:nvPr>
            <p:ph idx="1"/>
          </p:nvPr>
        </p:nvSpPr>
        <p:spPr/>
        <p:txBody>
          <a:bodyPr/>
          <a:lstStyle/>
          <a:p>
            <a:pPr lvl="1"/>
            <a:r>
              <a:rPr b="0" sz="1800"/>
              <a:t/>
            </a:r>
            <a:r>
              <a:rPr b="1" sz="1800"/>
              <a:t>Quantities to be Produced:</a:t>
            </a:r>
            <a:r>
              <a:rPr b="0" sz="1800"/>
              <a:t>This translates to the number of user accounts, API calls, and data storage required. The infrastructure will be designed to scale based on the tiered subscription model (Freemium, Basic, Pro).</a:t>
            </a:r>
          </a:p>
          <a:p>
            <a:pPr lvl="1"/>
            <a:r>
              <a:rPr b="0" sz="1800"/>
              <a:t/>
            </a:r>
            <a:r>
              <a:rPr b="1" sz="1800"/>
              <a:t>Stock of Raw Materials:</a:t>
            </a:r>
            <a:r>
              <a:rPr b="0" sz="1800"/>
              <a:t>For a SaaS business, "raw materials" are the core software components, cloud infrastructure resources (server instances, database capacity), and third-party API licenses. Stock levels are managed through scalable cloud services (e.g., AWS, Azure) and proactive resource allocation.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 Description of Production Processes</a:t>
            </a:r>
          </a:p>
        </p:txBody>
      </p:sp>
      <p:sp>
        <p:nvSpPr>
          <p:cNvPr id="3" name="Content Placeholder 2"/>
          <p:cNvSpPr>
            <a:spLocks noGrp="1"/>
          </p:cNvSpPr>
          <p:nvPr>
            <p:ph idx="1"/>
          </p:nvPr>
        </p:nvSpPr>
        <p:spPr/>
        <p:txBody>
          <a:bodyPr/>
          <a:lstStyle/>
          <a:p>
            <a:pPr/>
            <a:r>
              <a:rPr b="0" sz="1800"/>
              <a:t>The "production" process is a continuous software development and operations lifecycle:</a:t>
            </a:r>
          </a:p>
          <a:p>
            <a:pPr/>
            <a:r>
              <a:rPr b="0" sz="1800"/>
              <a:t>1.</a:t>
            </a:r>
            <a:r>
              <a:rPr b="1" sz="1800"/>
              <a:t>Market Need Identification:</a:t>
            </a:r>
            <a:r>
              <a:rPr b="0" sz="1800"/>
              <a:t>User feedback and data analysis (from the Marketing Plan) drive the feature roadmap.</a:t>
            </a:r>
          </a:p>
          <a:p>
            <a:pPr/>
            <a:r>
              <a:rPr b="0" sz="1800"/>
              <a:t>2.</a:t>
            </a:r>
            <a:r>
              <a:rPr b="1" sz="1800"/>
              <a:t>Development &amp; Integration:</a:t>
            </a:r>
            <a:r>
              <a:rPr b="0" sz="1800"/>
              <a:t>The development team builds, tests, and integrates new features and API connections (e.g., for new marketplaces).</a:t>
            </a:r>
          </a:p>
          <a:p>
            <a:pPr/>
            <a:r>
              <a:rPr b="0" sz="1800"/>
              <a:t>3.</a:t>
            </a:r>
            <a:r>
              <a:rPr b="1" sz="1800"/>
              <a:t>Deployment:</a:t>
            </a:r>
            <a:r>
              <a:rPr b="0" sz="1800"/>
              <a:t>Code is deployed to the production environment using CI/CD pipelines for reliability.</a:t>
            </a:r>
          </a:p>
          <a:p>
            <a:pPr/>
            <a:r>
              <a:rPr b="0" sz="1800"/>
              <a:t>4.</a:t>
            </a:r>
            <a:r>
              <a:rPr b="1" sz="1800"/>
              <a:t>Monitoring &amp; Maintenance:</a:t>
            </a:r>
            <a:r>
              <a:rPr b="0" sz="1800"/>
              <a:t>The platform's health, performance, and security are monitored 24/7 to ensure uptime and a smooth user experience.</a:t>
            </a:r>
          </a:p>
          <a:p>
            <a:pPr/>
            <a:r>
              <a:rPr b="0" sz="1800"/>
              <a:t>5.</a:t>
            </a:r>
            <a:r>
              <a:rPr b="1" sz="1800"/>
              <a:t>Customer Support:</a:t>
            </a:r>
            <a:r>
              <a:rPr b="0" sz="1800"/>
              <a:t>The support team provides user assistance, which feeds back into the need identification process.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 Estimation of Production Costs</a:t>
            </a:r>
          </a:p>
        </p:txBody>
      </p:sp>
      <p:sp>
        <p:nvSpPr>
          <p:cNvPr id="3" name="Content Placeholder 2"/>
          <p:cNvSpPr>
            <a:spLocks noGrp="1"/>
          </p:cNvSpPr>
          <p:nvPr>
            <p:ph idx="1"/>
          </p:nvPr>
        </p:nvSpPr>
        <p:spPr/>
        <p:txBody>
          <a:bodyPr/>
          <a:lstStyle/>
          <a:p>
            <a:pPr/>
            <a:r>
              <a:rPr b="0" sz="1800"/>
              <a:t>Production costs are primarily operational expenditures (OpEx) related to running the SaaS platform:</a:t>
            </a:r>
          </a:p>
          <a:p>
            <a:pPr lvl="1"/>
            <a:r>
              <a:rPr b="0" sz="1800"/>
              <a:t/>
            </a:r>
            <a:r>
              <a:rPr b="1" sz="1800"/>
              <a:t>Cloud Hosting Fees:</a:t>
            </a:r>
            <a:r>
              <a:rPr b="0" sz="1800"/>
              <a:t>Costs for servers, databases, and data transfer (e.g., AWS/Azure billing). This is the primary "cost of goods sold."</a:t>
            </a:r>
          </a:p>
          <a:p>
            <a:pPr lvl="1"/>
            <a:r>
              <a:rPr b="0" sz="1800"/>
              <a:t/>
            </a:r>
            <a:r>
              <a:rPr b="1" sz="1800"/>
              <a:t>API &amp; Licensing Costs:</a:t>
            </a:r>
            <a:r>
              <a:rPr b="0" sz="1800"/>
              <a:t>Fees for using third-party marketplace APIs or licensed software components.</a:t>
            </a:r>
          </a:p>
          <a:p>
            <a:pPr lvl="1"/>
            <a:r>
              <a:rPr b="0" sz="1800"/>
              <a:t/>
            </a:r>
            <a:r>
              <a:rPr b="1" sz="1800"/>
              <a:t>Personnel Costs:</a:t>
            </a:r>
            <a:r>
              <a:rPr b="0" sz="1800"/>
              <a:t>Salaries for the Development, Operations, and Customer Support teams.</a:t>
            </a:r>
          </a:p>
          <a:p>
            <a:pPr lvl="1"/>
            <a:r>
              <a:rPr b="0" sz="1800"/>
              <a:t/>
            </a:r>
            <a:r>
              <a:rPr b="1" sz="1800"/>
              <a:t>Monitoring &amp; Security Tools:</a:t>
            </a:r>
            <a:r>
              <a:rPr b="0" sz="1800"/>
              <a:t>Costs for software used to maintain platform health and security.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 Estimating Production Costs per Unit</a:t>
            </a:r>
          </a:p>
        </p:txBody>
      </p:sp>
      <p:sp>
        <p:nvSpPr>
          <p:cNvPr id="3" name="Content Placeholder 2"/>
          <p:cNvSpPr>
            <a:spLocks noGrp="1"/>
          </p:cNvSpPr>
          <p:nvPr>
            <p:ph idx="1"/>
          </p:nvPr>
        </p:nvSpPr>
        <p:spPr/>
        <p:txBody>
          <a:bodyPr/>
          <a:lstStyle/>
          <a:p>
            <a:pPr/>
            <a:r>
              <a:rPr b="0" sz="1800"/>
              <a:t>The "unit" is a single user subscription. The cost per unit is calculated by dividing the total production costs by the number of active users.</a:t>
            </a:r>
          </a:p>
          <a:p>
            <a:pPr lvl="1"/>
            <a:r>
              <a:rPr b="0" sz="1800"/>
              <a:t/>
            </a:r>
            <a:r>
              <a:rPr b="1" sz="1800"/>
              <a:t>Cost per User = Total Monthly OpEx / Number of Active Users</a:t>
            </a:r>
          </a:p>
          <a:p>
            <a:pPr/>
            <a:r>
              <a:rPr b="0" sz="1800"/>
              <a:t>This metric is critical for ensuring that the pricing tiers (Price from the 4Ps) are profitable and that the Customer Acquisition Cost (CAC) is sustainable relative to the Lifetime Value (LTV) of a customer.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8.1. Key Assumptions</a:t>
            </a:r>
          </a:p>
        </p:txBody>
      </p:sp>
      <p:sp>
        <p:nvSpPr>
          <p:cNvPr id="3" name="Content Placeholder 2"/>
          <p:cNvSpPr>
            <a:spLocks noGrp="1"/>
          </p:cNvSpPr>
          <p:nvPr>
            <p:ph idx="1"/>
          </p:nvPr>
        </p:nvSpPr>
        <p:spPr/>
        <p:txBody>
          <a:bodyPr/>
          <a:lstStyle/>
          <a:p>
            <a:pPr lvl="1"/>
            <a:r>
              <a:rPr b="0" sz="1800"/>
              <a:t/>
            </a:r>
            <a:r>
              <a:rPr b="1" sz="1800"/>
              <a:t>Initial Investment:</a:t>
            </a:r>
            <a:r>
              <a:rPr b="0" sz="1800"/>
              <a:t>€626,500.</a:t>
            </a:r>
          </a:p>
          <a:p>
            <a:pPr lvl="1"/>
            <a:r>
              <a:rPr b="0" sz="1800"/>
              <a:t/>
            </a:r>
            <a:r>
              <a:rPr b="1" sz="1800"/>
              <a:t>Revenue Growth:</a:t>
            </a:r>
            <a:r>
              <a:rPr b="0" sz="1800"/>
              <a:t>A conservative 25% per annum, considering the need for market education.</a:t>
            </a:r>
          </a:p>
          <a:p>
            <a:pPr lvl="1"/>
            <a:r>
              <a:rPr b="0" sz="1800"/>
              <a:t/>
            </a:r>
            <a:r>
              <a:rPr b="1" sz="1800"/>
              <a:t>Churn Rate:</a:t>
            </a:r>
            <a:r>
              <a:rPr b="0" sz="1800"/>
              <a:t>Projected at 8% monthly initially, reflecting the "Customer Resistance" threat. A key focus will be to reduce this through excellent onboarding and proving ROI.</a:t>
            </a:r>
          </a:p>
          <a:p>
            <a:pPr lvl="1"/>
            <a:r>
              <a:rPr b="0" sz="1800"/>
              <a:t/>
            </a:r>
            <a:r>
              <a:rPr b="1" sz="1800"/>
              <a:t>Customer Acquisition Cost (CAC):</a:t>
            </a:r>
            <a:r>
              <a:rPr b="0" sz="1800"/>
              <a:t>Estimated at €120. This is based on initial digital marketing campaigns and reflects the investment needed to overcome our "Limited Brand Recognition".</a:t>
            </a:r>
          </a:p>
          <a:p>
            <a:pPr lvl="1"/>
            <a:r>
              <a:rPr b="0" sz="1800"/>
              <a:t/>
            </a:r>
            <a:r>
              <a:rPr b="1" sz="1800"/>
              <a:t>Cost of Goods Sold (COGS):</a:t>
            </a:r>
            <a:r>
              <a:rPr b="0" sz="1800"/>
              <a:t>45% of value, primarily driven by cloud hosting and API licensing fees.</a:t>
            </a:r>
          </a:p>
          <a:p>
            <a:pPr lvl="1"/>
            <a:r>
              <a:rPr b="0" sz="1800"/>
              <a:t/>
            </a:r>
            <a:r>
              <a:rPr b="1" sz="1800"/>
              <a:t>Operational Expenses (OpEx):</a:t>
            </a:r>
            <a:r>
              <a:rPr b="0" sz="1800"/>
              <a:t>€80,000 annually. It is assumed this covers non-salary essentials, as salary costs are significantly higher.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 Investment Allocation</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057400"/>
                <a:gridCol w="2057400"/>
                <a:gridCol w="2057400"/>
                <a:gridCol w="2057400"/>
              </a:tblGrid>
              <a:tr h="653142">
                <a:tc>
                  <a:txBody>
                    <a:bodyPr/>
                    <a:lstStyle/>
                    <a:p>
                      <a:r>
                        <a:t>Category</a:t>
                      </a:r>
                    </a:p>
                  </a:txBody>
                  <a:tcPr/>
                </a:tc>
                <a:tc>
                  <a:txBody>
                    <a:bodyPr/>
                    <a:lstStyle/>
                    <a:p>
                      <a:r>
                        <a:t>Amount</a:t>
                      </a:r>
                    </a:p>
                  </a:txBody>
                  <a:tcPr/>
                </a:tc>
                <a:tc>
                  <a:txBody>
                    <a:bodyPr/>
                    <a:lstStyle/>
                    <a:p>
                      <a:r>
                        <a:t>Percentage</a:t>
                      </a:r>
                    </a:p>
                  </a:txBody>
                  <a:tcPr/>
                </a:tc>
                <a:tc>
                  <a:txBody>
                    <a:bodyPr/>
                    <a:lstStyle/>
                    <a:p>
                      <a:r>
                        <a:t>Purpose</a:t>
                      </a:r>
                    </a:p>
                  </a:txBody>
                  <a:tcPr/>
                </a:tc>
              </a:tr>
              <a:tr h="653142">
                <a:tc>
                  <a:txBody>
                    <a:bodyPr/>
                    <a:lstStyle/>
                    <a:p>
                      <a:r>
                        <a:t>Salaries &amp; Benefits</a:t>
                      </a:r>
                    </a:p>
                  </a:txBody>
                  <a:tcPr/>
                </a:tc>
                <a:tc>
                  <a:txBody>
                    <a:bodyPr/>
                    <a:lstStyle/>
                    <a:p>
                      <a:r>
                        <a:t>€625,275</a:t>
                      </a:r>
                    </a:p>
                  </a:txBody>
                  <a:tcPr/>
                </a:tc>
                <a:tc>
                  <a:txBody>
                    <a:bodyPr/>
                    <a:lstStyle/>
                    <a:p>
                      <a:r>
                        <a:t>99.8%</a:t>
                      </a:r>
                    </a:p>
                  </a:txBody>
                  <a:tcPr/>
                </a:tc>
                <a:tc>
                  <a:txBody>
                    <a:bodyPr/>
                    <a:lstStyle/>
                    <a:p>
                      <a:r>
                        <a:t>18-person full team for 18 months</a:t>
                      </a:r>
                    </a:p>
                  </a:txBody>
                  <a:tcPr/>
                </a:tc>
              </a:tr>
              <a:tr h="653142">
                <a:tc>
                  <a:txBody>
                    <a:bodyPr/>
                    <a:lstStyle/>
                    <a:p>
                      <a:r>
                        <a:t>Product Development</a:t>
                      </a:r>
                    </a:p>
                  </a:txBody>
                  <a:tcPr/>
                </a:tc>
                <a:tc>
                  <a:txBody>
                    <a:bodyPr/>
                    <a:lstStyle/>
                    <a:p>
                      <a:r>
                        <a:t>€1,225</a:t>
                      </a:r>
                    </a:p>
                  </a:txBody>
                  <a:tcPr/>
                </a:tc>
                <a:tc>
                  <a:txBody>
                    <a:bodyPr/>
                    <a:lstStyle/>
                    <a:p>
                      <a:r>
                        <a:t>0.2%</a:t>
                      </a:r>
                    </a:p>
                  </a:txBody>
                  <a:tcPr/>
                </a:tc>
                <a:tc>
                  <a:txBody>
                    <a:bodyPr/>
                    <a:lstStyle/>
                    <a:p>
                      <a:r>
                        <a:t>MVP development, API integrations, infrastructure</a:t>
                      </a:r>
                    </a:p>
                  </a:txBody>
                  <a:tcPr/>
                </a:tc>
              </a:tr>
              <a:tr h="653142">
                <a:tc>
                  <a:txBody>
                    <a:bodyPr/>
                    <a:lstStyle/>
                    <a:p>
                      <a:r>
                        <a:t>Marketing &amp; Sales</a:t>
                      </a:r>
                    </a:p>
                  </a:txBody>
                  <a:tcPr/>
                </a:tc>
                <a:tc>
                  <a:txBody>
                    <a:bodyPr/>
                    <a:lstStyle/>
                    <a:p>
                      <a:r>
                        <a:t>€0</a:t>
                      </a:r>
                    </a:p>
                  </a:txBody>
                  <a:tcPr/>
                </a:tc>
                <a:tc>
                  <a:txBody>
                    <a:bodyPr/>
                    <a:lstStyle/>
                    <a:p>
                      <a:r>
                        <a:t>0%</a:t>
                      </a:r>
                    </a:p>
                  </a:txBody>
                  <a:tcPr/>
                </a:tc>
                <a:tc>
                  <a:txBody>
                    <a:bodyPr/>
                    <a:lstStyle/>
                    <a:p>
                      <a:r>
                        <a:t>Customer acquisition, brand building, market validation</a:t>
                      </a:r>
                    </a:p>
                  </a:txBody>
                  <a:tcPr/>
                </a:tc>
              </a:tr>
              <a:tr h="653142">
                <a:tc>
                  <a:txBody>
                    <a:bodyPr/>
                    <a:lstStyle/>
                    <a:p>
                      <a:r>
                        <a:t>Operations &amp; Admin</a:t>
                      </a:r>
                    </a:p>
                  </a:txBody>
                  <a:tcPr/>
                </a:tc>
                <a:tc>
                  <a:txBody>
                    <a:bodyPr/>
                    <a:lstStyle/>
                    <a:p>
                      <a:r>
                        <a:t>€0</a:t>
                      </a:r>
                    </a:p>
                  </a:txBody>
                  <a:tcPr/>
                </a:tc>
                <a:tc>
                  <a:txBody>
                    <a:bodyPr/>
                    <a:lstStyle/>
                    <a:p>
                      <a:r>
                        <a:t>0%</a:t>
                      </a:r>
                    </a:p>
                  </a:txBody>
                  <a:tcPr/>
                </a:tc>
                <a:tc>
                  <a:txBody>
                    <a:bodyPr/>
                    <a:lstStyle/>
                    <a:p>
                      <a:r>
                        <a:t>Legal, accounting, office, tools</a:t>
                      </a:r>
                    </a:p>
                  </a:txBody>
                  <a:tcPr/>
                </a:tc>
              </a:tr>
              <a:tr h="653142">
                <a:tc>
                  <a:txBody>
                    <a:bodyPr/>
                    <a:lstStyle/>
                    <a:p>
                      <a:r>
                        <a:t>Contingency Fund</a:t>
                      </a:r>
                    </a:p>
                  </a:txBody>
                  <a:tcPr/>
                </a:tc>
                <a:tc>
                  <a:txBody>
                    <a:bodyPr/>
                    <a:lstStyle/>
                    <a:p>
                      <a:r>
                        <a:t>€0</a:t>
                      </a:r>
                    </a:p>
                  </a:txBody>
                  <a:tcPr/>
                </a:tc>
                <a:tc>
                  <a:txBody>
                    <a:bodyPr/>
                    <a:lstStyle/>
                    <a:p>
                      <a:r>
                        <a:t>0%</a:t>
                      </a:r>
                    </a:p>
                  </a:txBody>
                  <a:tcPr/>
                </a:tc>
                <a:tc>
                  <a:txBody>
                    <a:bodyPr/>
                    <a:lstStyle/>
                    <a:p>
                      <a:r>
                        <a:t>Unexpected costs, market changes</a:t>
                      </a:r>
                    </a:p>
                  </a:txBody>
                  <a:tcPr/>
                </a:tc>
              </a:tr>
              <a:tr h="653148">
                <a:tc>
                  <a:txBody>
                    <a:bodyPr/>
                    <a:lstStyle/>
                    <a:p>
                      <a:r>
                        <a:t>Total</a:t>
                      </a:r>
                    </a:p>
                  </a:txBody>
                  <a:tcPr/>
                </a:tc>
                <a:tc>
                  <a:txBody>
                    <a:bodyPr/>
                    <a:lstStyle/>
                    <a:p>
                      <a:r>
                        <a:t>€626,500</a:t>
                      </a:r>
                    </a:p>
                  </a:txBody>
                  <a:tcPr/>
                </a:tc>
                <a:tc>
                  <a:txBody>
                    <a:bodyPr/>
                    <a:lstStyle/>
                    <a:p>
                      <a:r>
                        <a:t>100%</a:t>
                      </a:r>
                    </a:p>
                  </a:txBody>
                  <a:tcPr/>
                </a:tc>
                <a:tc>
                  <a:txBody>
                    <a:bodyPr/>
                    <a:lstStyle/>
                    <a:p>
                      <a:r>
                        <a:t>18 month runway</a:t>
                      </a:r>
                    </a:p>
                  </a:txBody>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8.2. Investment Allocation</a:t>
            </a:r>
          </a:p>
        </p:txBody>
      </p:sp>
      <p:sp>
        <p:nvSpPr>
          <p:cNvPr id="3" name="Content Placeholder 2"/>
          <p:cNvSpPr>
            <a:spLocks noGrp="1"/>
          </p:cNvSpPr>
          <p:nvPr>
            <p:ph idx="1"/>
          </p:nvPr>
        </p:nvSpPr>
        <p:spPr/>
        <p:txBody>
          <a:bodyPr/>
          <a:lstStyle/>
          <a:p>
            <a:pPr/>
            <a:r>
              <a:rPr b="0" sz="1800"/>
              <a:t>The €626,500 investment will be strategically allocated for 18-month short-term period: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8.3. Financial Projections &amp; ROI</a:t>
            </a:r>
          </a:p>
        </p:txBody>
      </p:sp>
      <p:sp>
        <p:nvSpPr>
          <p:cNvPr id="3" name="Content Placeholder 2"/>
          <p:cNvSpPr>
            <a:spLocks noGrp="1"/>
          </p:cNvSpPr>
          <p:nvPr>
            <p:ph idx="1"/>
          </p:nvPr>
        </p:nvSpPr>
        <p:spPr/>
        <p:txBody>
          <a:bodyPr/>
          <a:lstStyle/>
          <a:p>
            <a:pPr lvl="1"/>
            <a:r>
              <a:rPr b="0" sz="1800"/>
              <a:t/>
            </a:r>
            <a:r>
              <a:rPr b="1" sz="1800"/>
              <a:t>Break-Even:</a:t>
            </a:r>
            <a:r>
              <a:rPr b="0" sz="1800"/>
              <a:t>Projected at Month 18 with 1,200 active customers</a:t>
            </a:r>
          </a:p>
          <a:p>
            <a:pPr lvl="1"/>
            <a:r>
              <a:rPr b="0" sz="1800"/>
              <a:t/>
            </a:r>
            <a:r>
              <a:rPr b="1" sz="1800"/>
              <a:t>Profitability:</a:t>
            </a:r>
            <a:r>
              <a:rPr b="0" sz="1800"/>
              <a:t>Positive cash flow expected by Month 24</a:t>
            </a:r>
          </a:p>
          <a:p>
            <a:pPr lvl="1"/>
            <a:r>
              <a:rPr b="0" sz="1800"/>
              <a:t/>
            </a:r>
            <a:r>
              <a:rPr b="1" sz="1800"/>
              <a:t>Return on Investment (ROI):</a:t>
            </a:r>
          </a:p>
          <a:p>
            <a:pPr lvl="1"/>
            <a:r>
              <a:rPr b="0" sz="1800"/>
              <a:t/>
            </a:r>
            <a:r>
              <a:rPr b="1" sz="1800"/>
              <a:t>Short Term (18 months):</a:t>
            </a:r>
            <a:r>
              <a:rPr b="0" sz="1800"/>
              <a:t>18%</a:t>
            </a:r>
          </a:p>
          <a:p>
            <a:pPr lvl="1"/>
            <a:r>
              <a:rPr b="0" sz="1800"/>
              <a:t/>
            </a:r>
            <a:r>
              <a:rPr b="1" sz="1800"/>
              <a:t>Medium Term (36 months):</a:t>
            </a:r>
            <a:r>
              <a:rPr b="0" sz="1800"/>
              <a:t>32%</a:t>
            </a:r>
          </a:p>
          <a:p>
            <a:pPr lvl="1"/>
            <a:r>
              <a:rPr b="0" sz="1800"/>
              <a:t/>
            </a:r>
            <a:r>
              <a:rPr b="1" sz="1800"/>
              <a:t>Long Term (60 months):</a:t>
            </a:r>
            <a:r>
              <a:rPr b="0" sz="1800"/>
              <a:t>52%</a:t>
            </a:r>
          </a:p>
          <a:p>
            <a:pPr lvl="1"/>
            <a:r>
              <a:rPr b="0" sz="1800"/>
              <a:t/>
            </a:r>
            <a:r>
              <a:rPr b="1" sz="1800"/>
              <a:t>Runway:</a:t>
            </a:r>
            <a:r>
              <a:rPr b="0" sz="1800"/>
              <a:t>18 months with current funding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254000">
                <a:tc>
                  <a:txBody>
                    <a:bodyPr/>
                    <a:lstStyle/>
                    <a:p>
                      <a:r>
                        <a:t>Role</a:t>
                      </a:r>
                    </a:p>
                  </a:txBody>
                  <a:tcPr/>
                </a:tc>
                <a:tc>
                  <a:txBody>
                    <a:bodyPr/>
                    <a:lstStyle/>
                    <a:p>
                      <a:r>
                        <a:t>Quantity</a:t>
                      </a:r>
                    </a:p>
                  </a:txBody>
                  <a:tcPr/>
                </a:tc>
                <a:tc>
                  <a:txBody>
                    <a:bodyPr/>
                    <a:lstStyle/>
                    <a:p>
                      <a:r>
                        <a:t>Monthly Salary (gross)</a:t>
                      </a:r>
                    </a:p>
                  </a:txBody>
                  <a:tcPr/>
                </a:tc>
                <a:tc>
                  <a:txBody>
                    <a:bodyPr/>
                    <a:lstStyle/>
                    <a:p>
                      <a:r>
                        <a:t>Annual Salary (gross)</a:t>
                      </a:r>
                    </a:p>
                  </a:txBody>
                  <a:tcPr/>
                </a:tc>
                <a:tc>
                  <a:txBody>
                    <a:bodyPr/>
                    <a:lstStyle/>
                    <a:p>
                      <a:r>
                        <a:t>18-Month Cost</a:t>
                      </a:r>
                    </a:p>
                  </a:txBody>
                  <a:tcPr/>
                </a:tc>
              </a:tr>
              <a:tr h="254000">
                <a:tc>
                  <a:txBody>
                    <a:bodyPr/>
                    <a:lstStyle/>
                    <a:p>
                      <a:r>
                        <a:t>CEO/Founder (Management)</a:t>
                      </a:r>
                    </a:p>
                  </a:txBody>
                  <a:tcPr/>
                </a:tc>
                <a:tc>
                  <a:txBody>
                    <a:bodyPr/>
                    <a:lstStyle/>
                    <a:p>
                      <a:r>
                        <a:t>1</a:t>
                      </a:r>
                    </a:p>
                  </a:txBody>
                  <a:tcPr/>
                </a:tc>
                <a:tc>
                  <a:txBody>
                    <a:bodyPr/>
                    <a:lstStyle/>
                    <a:p>
                      <a:r>
                        <a:t>€3,500</a:t>
                      </a:r>
                    </a:p>
                  </a:txBody>
                  <a:tcPr/>
                </a:tc>
                <a:tc>
                  <a:txBody>
                    <a:bodyPr/>
                    <a:lstStyle/>
                    <a:p>
                      <a:r>
                        <a:t>€42,000</a:t>
                      </a:r>
                    </a:p>
                  </a:txBody>
                  <a:tcPr/>
                </a:tc>
                <a:tc>
                  <a:txBody>
                    <a:bodyPr/>
                    <a:lstStyle/>
                    <a:p>
                      <a:r>
                        <a:t>€63,000</a:t>
                      </a:r>
                    </a:p>
                  </a:txBody>
                  <a:tcPr/>
                </a:tc>
              </a:tr>
              <a:tr h="254000">
                <a:tc>
                  <a:txBody>
                    <a:bodyPr/>
                    <a:lstStyle/>
                    <a:p>
                      <a:r>
                        <a:t>CTO (Management)</a:t>
                      </a:r>
                    </a:p>
                  </a:txBody>
                  <a:tcPr/>
                </a:tc>
                <a:tc>
                  <a:txBody>
                    <a:bodyPr/>
                    <a:lstStyle/>
                    <a:p>
                      <a:r>
                        <a:t>1</a:t>
                      </a:r>
                    </a:p>
                  </a:txBody>
                  <a:tcPr/>
                </a:tc>
                <a:tc>
                  <a:txBody>
                    <a:bodyPr/>
                    <a:lstStyle/>
                    <a:p>
                      <a:r>
                        <a:t>€3,500</a:t>
                      </a:r>
                    </a:p>
                  </a:txBody>
                  <a:tcPr/>
                </a:tc>
                <a:tc>
                  <a:txBody>
                    <a:bodyPr/>
                    <a:lstStyle/>
                    <a:p>
                      <a:r>
                        <a:t>€42,000</a:t>
                      </a:r>
                    </a:p>
                  </a:txBody>
                  <a:tcPr/>
                </a:tc>
                <a:tc>
                  <a:txBody>
                    <a:bodyPr/>
                    <a:lstStyle/>
                    <a:p>
                      <a:r>
                        <a:t>€63,000</a:t>
                      </a:r>
                    </a:p>
                  </a:txBody>
                  <a:tcPr/>
                </a:tc>
              </a:tr>
              <a:tr h="254000">
                <a:tc>
                  <a:txBody>
                    <a:bodyPr/>
                    <a:lstStyle/>
                    <a:p>
                      <a:r>
                        <a:t>Backend Developer (Operational)</a:t>
                      </a:r>
                    </a:p>
                  </a:txBody>
                  <a:tcPr/>
                </a:tc>
                <a:tc>
                  <a:txBody>
                    <a:bodyPr/>
                    <a:lstStyle/>
                    <a:p>
                      <a:r>
                        <a:t>4</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Frontend Developer (Operational)</a:t>
                      </a:r>
                    </a:p>
                  </a:txBody>
                  <a:tcPr/>
                </a:tc>
                <a:tc>
                  <a:txBody>
                    <a:bodyPr/>
                    <a:lstStyle/>
                    <a:p>
                      <a:r>
                        <a:t>1</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DevOps Engineer (Operational)</a:t>
                      </a:r>
                    </a:p>
                  </a:txBody>
                  <a:tcPr/>
                </a:tc>
                <a:tc>
                  <a:txBody>
                    <a:bodyPr/>
                    <a:lstStyle/>
                    <a:p>
                      <a:r>
                        <a:t>1</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Quality Assurance (Operational)</a:t>
                      </a:r>
                    </a:p>
                  </a:txBody>
                  <a:tcPr/>
                </a:tc>
                <a:tc>
                  <a:txBody>
                    <a:bodyPr/>
                    <a:lstStyle/>
                    <a:p>
                      <a:r>
                        <a:t>1</a:t>
                      </a:r>
                    </a:p>
                  </a:txBody>
                  <a:tcPr/>
                </a:tc>
                <a:tc>
                  <a:txBody>
                    <a:bodyPr/>
                    <a:lstStyle/>
                    <a:p>
                      <a:r>
                        <a:t>€1,800</a:t>
                      </a:r>
                    </a:p>
                  </a:txBody>
                  <a:tcPr/>
                </a:tc>
                <a:tc>
                  <a:txBody>
                    <a:bodyPr/>
                    <a:lstStyle/>
                    <a:p>
                      <a:r>
                        <a:t>€21,600</a:t>
                      </a:r>
                    </a:p>
                  </a:txBody>
                  <a:tcPr/>
                </a:tc>
                <a:tc>
                  <a:txBody>
                    <a:bodyPr/>
                    <a:lstStyle/>
                    <a:p>
                      <a:r>
                        <a:t>€32,400</a:t>
                      </a:r>
                    </a:p>
                  </a:txBody>
                  <a:tcPr/>
                </a:tc>
              </a:tr>
              <a:tr h="254000">
                <a:tc>
                  <a:txBody>
                    <a:bodyPr/>
                    <a:lstStyle/>
                    <a:p>
                      <a:r>
                        <a:t>CMO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Digital Marketing Specialist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Content Creator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Sales Representative (Commercial)</a:t>
                      </a:r>
                    </a:p>
                  </a:txBody>
                  <a:tcPr/>
                </a:tc>
                <a:tc>
                  <a:txBody>
                    <a:bodyPr/>
                    <a:lstStyle/>
                    <a:p>
                      <a:r>
                        <a:t>1</a:t>
                      </a:r>
                    </a:p>
                  </a:txBody>
                  <a:tcPr/>
                </a:tc>
                <a:tc>
                  <a:txBody>
                    <a:bodyPr/>
                    <a:lstStyle/>
                    <a:p>
                      <a:r>
                        <a:t>€1,400</a:t>
                      </a:r>
                    </a:p>
                  </a:txBody>
                  <a:tcPr/>
                </a:tc>
                <a:tc>
                  <a:txBody>
                    <a:bodyPr/>
                    <a:lstStyle/>
                    <a:p>
                      <a:r>
                        <a:t>€16,800</a:t>
                      </a:r>
                    </a:p>
                  </a:txBody>
                  <a:tcPr/>
                </a:tc>
                <a:tc>
                  <a:txBody>
                    <a:bodyPr/>
                    <a:lstStyle/>
                    <a:p>
                      <a:r>
                        <a:t>€25,200</a:t>
                      </a:r>
                    </a:p>
                  </a:txBody>
                  <a:tcPr/>
                </a:tc>
              </a:tr>
              <a:tr h="254000">
                <a:tc>
                  <a:txBody>
                    <a:bodyPr/>
                    <a:lstStyle/>
                    <a:p>
                      <a:r>
                        <a:t>Head of Customer Success (Administrative)</a:t>
                      </a:r>
                    </a:p>
                  </a:txBody>
                  <a:tcPr/>
                </a:tc>
                <a:tc>
                  <a:txBody>
                    <a:bodyPr/>
                    <a:lstStyle/>
                    <a:p>
                      <a:r>
                        <a:t>1</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Customer Support Specialist (Administrative)</a:t>
                      </a:r>
                    </a:p>
                  </a:txBody>
                  <a:tcPr/>
                </a:tc>
                <a:tc>
                  <a:txBody>
                    <a:bodyPr/>
                    <a:lstStyle/>
                    <a:p>
                      <a:r>
                        <a:t>2</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CFO/Operations (Administrative)</a:t>
                      </a:r>
                    </a:p>
                  </a:txBody>
                  <a:tcPr/>
                </a:tc>
                <a:tc>
                  <a:txBody>
                    <a:bodyPr/>
                    <a:lstStyle/>
                    <a:p>
                      <a:r>
                        <a:t>1</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Finance &amp; Admin (Administrative)</a:t>
                      </a:r>
                    </a:p>
                  </a:txBody>
                  <a:tcPr/>
                </a:tc>
                <a:tc>
                  <a:txBody>
                    <a:bodyPr/>
                    <a:lstStyle/>
                    <a:p>
                      <a:r>
                        <a:t>1</a:t>
                      </a:r>
                    </a:p>
                  </a:txBody>
                  <a:tcPr/>
                </a:tc>
                <a:tc>
                  <a:txBody>
                    <a:bodyPr/>
                    <a:lstStyle/>
                    <a:p>
                      <a:r>
                        <a:t>€2,000</a:t>
                      </a:r>
                    </a:p>
                  </a:txBody>
                  <a:tcPr/>
                </a:tc>
                <a:tc>
                  <a:txBody>
                    <a:bodyPr/>
                    <a:lstStyle/>
                    <a:p>
                      <a:r>
                        <a:t>€24,000</a:t>
                      </a:r>
                    </a:p>
                  </a:txBody>
                  <a:tcPr/>
                </a:tc>
                <a:tc>
                  <a:txBody>
                    <a:bodyPr/>
                    <a:lstStyle/>
                    <a:p>
                      <a:r>
                        <a:t>€36,000</a:t>
                      </a:r>
                    </a:p>
                  </a:txBody>
                  <a:tcPr/>
                </a:tc>
              </a:tr>
              <a:tr h="254000">
                <a:tc>
                  <a:txBody>
                    <a:bodyPr/>
                    <a:lstStyle/>
                    <a:p>
                      <a:r>
                        <a:t>Subtotal</a:t>
                      </a:r>
                    </a:p>
                  </a:txBody>
                  <a:tcPr/>
                </a:tc>
                <a:tc>
                  <a:txBody>
                    <a:bodyPr/>
                    <a:lstStyle/>
                    <a:p>
                      <a:r>
                        <a:t>18</a:t>
                      </a:r>
                    </a:p>
                  </a:txBody>
                  <a:tcPr/>
                </a:tc>
                <a:tc>
                  <a:txBody>
                    <a:bodyPr/>
                    <a:lstStyle/>
                    <a:p/>
                  </a:txBody>
                  <a:tcPr/>
                </a:tc>
                <a:tc>
                  <a:txBody>
                    <a:bodyPr/>
                    <a:lstStyle/>
                    <a:p>
                      <a:r>
                        <a:t>€336,800</a:t>
                      </a:r>
                    </a:p>
                  </a:txBody>
                  <a:tcPr/>
                </a:tc>
                <a:tc>
                  <a:txBody>
                    <a:bodyPr/>
                    <a:lstStyle/>
                    <a:p>
                      <a:r>
                        <a:t>€505,200</a:t>
                      </a:r>
                    </a:p>
                  </a:txBody>
                  <a:tcPr/>
                </a:tc>
              </a:tr>
              <a:tr h="254000">
                <a:tc>
                  <a:txBody>
                    <a:bodyPr/>
                    <a:lstStyle/>
                    <a:p>
                      <a:r>
                        <a:t>Social Security (23.75%)</a:t>
                      </a:r>
                    </a:p>
                  </a:txBody>
                  <a:tcPr/>
                </a:tc>
                <a:tc>
                  <a:txBody>
                    <a:bodyPr/>
                    <a:lstStyle/>
                    <a:p/>
                  </a:txBody>
                  <a:tcPr/>
                </a:tc>
                <a:tc>
                  <a:txBody>
                    <a:bodyPr/>
                    <a:lstStyle/>
                    <a:p/>
                  </a:txBody>
                  <a:tcPr/>
                </a:tc>
                <a:tc>
                  <a:txBody>
                    <a:bodyPr/>
                    <a:lstStyle/>
                    <a:p>
                      <a:r>
                        <a:t>€80,040</a:t>
                      </a:r>
                    </a:p>
                  </a:txBody>
                  <a:tcPr/>
                </a:tc>
                <a:tc>
                  <a:txBody>
                    <a:bodyPr/>
                    <a:lstStyle/>
                    <a:p>
                      <a:r>
                        <a:t>€120,075</a:t>
                      </a:r>
                    </a:p>
                  </a:txBody>
                  <a:tcPr/>
                </a:tc>
              </a:tr>
              <a:tr h="254000">
                <a:tc>
                  <a:txBody>
                    <a:bodyPr/>
                    <a:lstStyle/>
                    <a:p>
                      <a:r>
                        <a:t>Total Personnel Costs</a:t>
                      </a:r>
                    </a:p>
                  </a:txBody>
                  <a:tcPr/>
                </a:tc>
                <a:tc>
                  <a:txBody>
                    <a:bodyPr/>
                    <a:lstStyle/>
                    <a:p/>
                  </a:txBody>
                  <a:tcPr/>
                </a:tc>
                <a:tc>
                  <a:txBody>
                    <a:bodyPr/>
                    <a:lstStyle/>
                    <a:p/>
                  </a:txBody>
                  <a:tcPr/>
                </a:tc>
                <a:tc>
                  <a:txBody>
                    <a:bodyPr/>
                    <a:lstStyle/>
                    <a:p>
                      <a:r>
                        <a:t>€416,840</a:t>
                      </a:r>
                    </a:p>
                  </a:txBody>
                  <a:tcPr/>
                </a:tc>
                <a:tc>
                  <a:txBody>
                    <a:bodyPr/>
                    <a:lstStyle/>
                    <a:p>
                      <a:r>
                        <a:t>€625,275</a:t>
                      </a:r>
                    </a:p>
                  </a:txBody>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graphicFrame>
        <p:nvGraphicFramePr>
          <p:cNvPr id="3" name="Table 2"/>
          <p:cNvGraphicFramePr>
            <a:graphicFrameLocks noGrp="1"/>
          </p:cNvGraphicFramePr>
          <p:nvPr/>
        </p:nvGraphicFramePr>
        <p:xfrm>
          <a:off x="457200" y="1371600"/>
          <a:ext cx="8229600" cy="4572000"/>
        </p:xfrm>
        <a:graphic>
          <a:graphicData uri="http://schemas.openxmlformats.org/drawingml/2006/table">
            <a:tbl>
              <a:tblPr firstRow="1" bandRow="1">
                <a:tableStyleId>{5C22544A-7EE6-4342-B048-85BDC9FD1C3A}</a:tableStyleId>
              </a:tblPr>
              <a:tblGrid>
                <a:gridCol w="2743200"/>
                <a:gridCol w="2743200"/>
                <a:gridCol w="2743200"/>
              </a:tblGrid>
              <a:tr h="653142">
                <a:tc>
                  <a:txBody>
                    <a:bodyPr/>
                    <a:lstStyle/>
                    <a:p>
                      <a:r>
                        <a:t>Cost Category</a:t>
                      </a:r>
                    </a:p>
                  </a:txBody>
                  <a:tcPr/>
                </a:tc>
                <a:tc>
                  <a:txBody>
                    <a:bodyPr/>
                    <a:lstStyle/>
                    <a:p>
                      <a:r>
                        <a:t>Monthly Amount</a:t>
                      </a:r>
                    </a:p>
                  </a:txBody>
                  <a:tcPr/>
                </a:tc>
                <a:tc>
                  <a:txBody>
                    <a:bodyPr/>
                    <a:lstStyle/>
                    <a:p>
                      <a:r>
                        <a:t>Annual Amount</a:t>
                      </a:r>
                    </a:p>
                  </a:txBody>
                  <a:tcPr/>
                </a:tc>
              </a:tr>
              <a:tr h="653142">
                <a:tc>
                  <a:txBody>
                    <a:bodyPr/>
                    <a:lstStyle/>
                    <a:p>
                      <a:r>
                        <a:t>Personnel Costs</a:t>
                      </a:r>
                    </a:p>
                  </a:txBody>
                  <a:tcPr/>
                </a:tc>
                <a:tc>
                  <a:txBody>
                    <a:bodyPr/>
                    <a:lstStyle/>
                    <a:p>
                      <a:r>
                        <a:t>€34,738</a:t>
                      </a:r>
                    </a:p>
                  </a:txBody>
                  <a:tcPr/>
                </a:tc>
                <a:tc>
                  <a:txBody>
                    <a:bodyPr/>
                    <a:lstStyle/>
                    <a:p>
                      <a:r>
                        <a:t>€416,840</a:t>
                      </a:r>
                    </a:p>
                  </a:txBody>
                  <a:tcPr/>
                </a:tc>
              </a:tr>
              <a:tr h="653142">
                <a:tc>
                  <a:txBody>
                    <a:bodyPr/>
                    <a:lstStyle/>
                    <a:p>
                      <a:r>
                        <a:t>Cloud Infrastructure</a:t>
                      </a:r>
                    </a:p>
                  </a:txBody>
                  <a:tcPr/>
                </a:tc>
                <a:tc>
                  <a:txBody>
                    <a:bodyPr/>
                    <a:lstStyle/>
                    <a:p>
                      <a:r>
                        <a:t>€1,200</a:t>
                      </a:r>
                    </a:p>
                  </a:txBody>
                  <a:tcPr/>
                </a:tc>
                <a:tc>
                  <a:txBody>
                    <a:bodyPr/>
                    <a:lstStyle/>
                    <a:p>
                      <a:r>
                        <a:t>€14,400</a:t>
                      </a:r>
                    </a:p>
                  </a:txBody>
                  <a:tcPr/>
                </a:tc>
              </a:tr>
              <a:tr h="653142">
                <a:tc>
                  <a:txBody>
                    <a:bodyPr/>
                    <a:lstStyle/>
                    <a:p>
                      <a:r>
                        <a:t>Marketing &amp; Sales</a:t>
                      </a:r>
                    </a:p>
                  </a:txBody>
                  <a:tcPr/>
                </a:tc>
                <a:tc>
                  <a:txBody>
                    <a:bodyPr/>
                    <a:lstStyle/>
                    <a:p>
                      <a:r>
                        <a:t>€5,417</a:t>
                      </a:r>
                    </a:p>
                  </a:txBody>
                  <a:tcPr/>
                </a:tc>
                <a:tc>
                  <a:txBody>
                    <a:bodyPr/>
                    <a:lstStyle/>
                    <a:p>
                      <a:r>
                        <a:t>€65,000</a:t>
                      </a:r>
                    </a:p>
                  </a:txBody>
                  <a:tcPr/>
                </a:tc>
              </a:tr>
              <a:tr h="653142">
                <a:tc>
                  <a:txBody>
                    <a:bodyPr/>
                    <a:lstStyle/>
                    <a:p>
                      <a:r>
                        <a:t>Software &amp; Tools</a:t>
                      </a:r>
                    </a:p>
                  </a:txBody>
                  <a:tcPr/>
                </a:tc>
                <a:tc>
                  <a:txBody>
                    <a:bodyPr/>
                    <a:lstStyle/>
                    <a:p>
                      <a:r>
                        <a:t>€800</a:t>
                      </a:r>
                    </a:p>
                  </a:txBody>
                  <a:tcPr/>
                </a:tc>
                <a:tc>
                  <a:txBody>
                    <a:bodyPr/>
                    <a:lstStyle/>
                    <a:p>
                      <a:r>
                        <a:t>€9,600</a:t>
                      </a:r>
                    </a:p>
                  </a:txBody>
                  <a:tcPr/>
                </a:tc>
              </a:tr>
              <a:tr h="653142">
                <a:tc>
                  <a:txBody>
                    <a:bodyPr/>
                    <a:lstStyle/>
                    <a:p>
                      <a:r>
                        <a:t>Legal &amp; Admin</a:t>
                      </a:r>
                    </a:p>
                  </a:txBody>
                  <a:tcPr/>
                </a:tc>
                <a:tc>
                  <a:txBody>
                    <a:bodyPr/>
                    <a:lstStyle/>
                    <a:p>
                      <a:r>
                        <a:t>€1,250</a:t>
                      </a:r>
                    </a:p>
                  </a:txBody>
                  <a:tcPr/>
                </a:tc>
                <a:tc>
                  <a:txBody>
                    <a:bodyPr/>
                    <a:lstStyle/>
                    <a:p>
                      <a:r>
                        <a:t>€15,000</a:t>
                      </a:r>
                    </a:p>
                  </a:txBody>
                  <a:tcPr/>
                </a:tc>
              </a:tr>
              <a:tr h="653148">
                <a:tc>
                  <a:txBody>
                    <a:bodyPr/>
                    <a:lstStyle/>
                    <a:p>
                      <a:r>
                        <a:t>Total Monthly Burn</a:t>
                      </a:r>
                    </a:p>
                  </a:txBody>
                  <a:tcPr/>
                </a:tc>
                <a:tc>
                  <a:txBody>
                    <a:bodyPr/>
                    <a:lstStyle/>
                    <a:p>
                      <a:r>
                        <a:t>€43,405</a:t>
                      </a:r>
                    </a:p>
                  </a:txBody>
                  <a:tcPr/>
                </a:tc>
                <a:tc>
                  <a:txBody>
                    <a:bodyPr/>
                    <a:lstStyle/>
                    <a:p>
                      <a:r>
                        <a:t>€520,840</a:t>
                      </a:r>
                    </a:p>
                  </a:txBody>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sp>
        <p:nvSpPr>
          <p:cNvPr id="3" name="Content Placeholder 2"/>
          <p:cNvSpPr>
            <a:spLocks noGrp="1"/>
          </p:cNvSpPr>
          <p:nvPr>
            <p:ph idx="1"/>
          </p:nvPr>
        </p:nvSpPr>
        <p:spPr/>
        <p:txBody>
          <a:bodyPr/>
          <a:lstStyle/>
          <a:p>
            <a:pPr/>
            <a:r>
              <a:rPr b="0" sz="1800"/>
              <a:t>#### 8.4.1. Realistic Cost Structure</a:t>
            </a:r>
          </a:p>
          <a:p>
            <a:pPr/>
            <a:r>
              <a:rPr b="0" sz="1800"/>
              <a:t>Based on a lean startup approach, we've structured the investment for sustainability:</a:t>
            </a:r>
          </a:p>
          <a:p>
            <a:pPr/>
            <a:r>
              <a:rPr b="0" sz="1800"/>
              <a:t>#### 8.4.2. Monthly Burn Rate Analysis</a:t>
            </a:r>
          </a:p>
          <a:p>
            <a:pPr/>
            <a:r>
              <a:rPr b="0" sz="1800"/>
              <a:t>#### 8.4.3. Runway &amp; Customer Acquisition</a:t>
            </a:r>
          </a:p>
          <a:p>
            <a:pPr lvl="1"/>
            <a:r>
              <a:rPr b="0" sz="1800"/>
              <a:t/>
            </a:r>
            <a:r>
              <a:rPr b="1" sz="1800"/>
              <a:t>Monthly Net Burn:</a:t>
            </a:r>
            <a:r>
              <a:rPr b="0" sz="1800"/>
              <a:t>€43,405</a:t>
            </a:r>
          </a:p>
          <a:p>
            <a:pPr lvl="1"/>
            <a:r>
              <a:rPr b="0" sz="1800"/>
              <a:t/>
            </a:r>
            <a:r>
              <a:rPr b="1" sz="1800"/>
              <a:t>Available Investment:</a:t>
            </a:r>
            <a:r>
              <a:rPr b="0" sz="1800"/>
              <a:t>€626,500</a:t>
            </a:r>
          </a:p>
          <a:p>
            <a:pPr lvl="1"/>
            <a:r>
              <a:rPr b="0" sz="1800"/>
              <a:t/>
            </a:r>
            <a:r>
              <a:rPr b="1" sz="1800"/>
              <a:t>Runway:</a:t>
            </a:r>
            <a:r>
              <a:rPr b="0" sz="1800"/>
              <a:t>14.4 months (approximately 14 months)</a:t>
            </a:r>
          </a:p>
          <a:p>
            <a:pPr lvl="1"/>
            <a:r>
              <a:rPr b="0" sz="1800"/>
              <a:t/>
            </a:r>
            <a:r>
              <a:rPr b="1" sz="1800"/>
              <a:t>CAC Budget:</a:t>
            </a:r>
            <a:r>
              <a:rPr b="0" sz="1800"/>
              <a:t>€61,000 allows for 508 customers at €120 CAC</a:t>
            </a:r>
          </a:p>
          <a:p>
            <a:pPr lvl="1"/>
            <a:r>
              <a:rPr b="0" sz="1800"/>
              <a:t/>
            </a:r>
            <a:r>
              <a:rPr b="1" sz="1800"/>
              <a:t>Break-Even Target:</a:t>
            </a:r>
            <a:r>
              <a:rPr b="0" sz="1800"/>
              <a:t>1,200 customers by Month 18</a:t>
            </a:r>
          </a:p>
          <a:p>
            <a:pPr/>
            <a:r>
              <a:rPr b="0" sz="1800"/>
              <a:t>#### 8.4.4. Phased Hiring Strategy</a:t>
            </a:r>
          </a:p>
          <a:p>
            <a:pPr lvl="1"/>
            <a:r>
              <a:rPr b="1" sz="1800"/>
              <a:t>Phase 1 (Months 0-6): Core Team (5 people)</a:t>
            </a:r>
          </a:p>
          <a:p>
            <a:pPr lvl="1"/>
            <a:r>
              <a:rPr b="0" sz="1800"/>
              <a:t>- CEO/Founder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sp>
        <p:nvSpPr>
          <p:cNvPr id="3" name="Content Placeholder 2"/>
          <p:cNvSpPr>
            <a:spLocks noGrp="1"/>
          </p:cNvSpPr>
          <p:nvPr>
            <p:ph idx="1"/>
          </p:nvPr>
        </p:nvSpPr>
        <p:spPr/>
        <p:txBody>
          <a:bodyPr/>
          <a:lstStyle/>
          <a:p>
            <a:pPr lvl="1"/>
            <a:r>
              <a:rPr b="0" sz="1800"/>
              <a:t>- 2 Backend Developers</a:t>
            </a:r>
          </a:p>
          <a:p>
            <a:pPr lvl="1"/>
            <a:r>
              <a:rPr b="0" sz="1800"/>
              <a:t>- 1 Frontend Developer</a:t>
            </a:r>
          </a:p>
          <a:p>
            <a:pPr lvl="1"/>
            <a:r>
              <a:rPr b="0" sz="1800"/>
              <a:t>- 1 Marketing Specialist</a:t>
            </a:r>
          </a:p>
          <a:p>
            <a:pPr lvl="1"/>
            <a:r>
              <a:rPr b="1" sz="1800"/>
              <a:t>Phase 2 (Months 7-12): Scale Team (7 people)</a:t>
            </a:r>
          </a:p>
          <a:p>
            <a:pPr lvl="1"/>
            <a:r>
              <a:rPr b="0" sz="1800"/>
              <a:t>- Add DevOps Engineer</a:t>
            </a:r>
          </a:p>
          <a:p>
            <a:pPr lvl="1"/>
            <a:r>
              <a:rPr b="0" sz="1800"/>
              <a:t>- Add 1 Backend Developer</a:t>
            </a:r>
          </a:p>
          <a:p>
            <a:pPr lvl="1"/>
            <a:r>
              <a:rPr b="0" sz="1800"/>
              <a:t>- Add Customer Support</a:t>
            </a:r>
          </a:p>
          <a:p>
            <a:pPr lvl="1"/>
            <a:r>
              <a:rPr b="1" sz="1800"/>
              <a:t>Phase 3 (Months 13-18): Growth Team (8 people)</a:t>
            </a:r>
          </a:p>
          <a:p>
            <a:pPr lvl="1"/>
            <a:r>
              <a:rPr b="0" sz="1800"/>
              <a:t>- Optimize team structure based on revenue and customer feedback</a:t>
            </a:r>
          </a:p>
          <a:p>
            <a:pPr lvl="1"/>
            <a:r>
              <a:rPr b="1" sz="1800"/>
              <a:t>Key Improvements Made:</a:t>
            </a:r>
          </a:p>
          <a:p>
            <a:pPr/>
            <a:r>
              <a:rPr b="0" sz="1800"/>
              <a:t>1.</a:t>
            </a:r>
            <a:r>
              <a:rPr b="1" sz="1800"/>
              <a:t>Realistic Portuguese Salaries:</a:t>
            </a:r>
            <a:r>
              <a:rPr b="0" sz="1800"/>
              <a:t>€626,500 investment for 14-month runway</a:t>
            </a:r>
          </a:p>
          <a:p>
            <a:pPr/>
            <a:r>
              <a:rPr b="0" sz="1800"/>
              <a:t>2.</a:t>
            </a:r>
            <a:r>
              <a:rPr b="1" sz="1800"/>
              <a:t>Expanded Team Structure:</a:t>
            </a:r>
            <a:r>
              <a:rPr b="0" sz="1800"/>
              <a:t>18 employees with competitive Portuguese startup rates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8.4. Investment Analysis</a:t>
            </a:r>
          </a:p>
        </p:txBody>
      </p:sp>
      <p:sp>
        <p:nvSpPr>
          <p:cNvPr id="3" name="Content Placeholder 2"/>
          <p:cNvSpPr>
            <a:spLocks noGrp="1"/>
          </p:cNvSpPr>
          <p:nvPr>
            <p:ph idx="1"/>
          </p:nvPr>
        </p:nvSpPr>
        <p:spPr/>
        <p:txBody>
          <a:bodyPr/>
          <a:lstStyle/>
          <a:p>
            <a:pPr/>
            <a:r>
              <a:rPr b="0" sz="1800"/>
              <a:t>3.</a:t>
            </a:r>
            <a:r>
              <a:rPr b="1" sz="1800"/>
              <a:t>Cost-Effective Operations:</a:t>
            </a:r>
            <a:r>
              <a:rPr b="0" sz="1800"/>
              <a:t>Lean team with junior to mid-level positions</a:t>
            </a:r>
          </a:p>
          <a:p>
            <a:pPr/>
            <a:r>
              <a:rPr b="0" sz="1800"/>
              <a:t>4.</a:t>
            </a:r>
            <a:r>
              <a:rPr b="1" sz="1800"/>
              <a:t>Break-Even Target:</a:t>
            </a:r>
            <a:r>
              <a:rPr b="0" sz="1800"/>
              <a:t>1,200 customers by Month 18</a:t>
            </a:r>
          </a:p>
          <a:p>
            <a:pPr/>
            <a:r>
              <a:rPr b="0" sz="1800"/>
              <a:t>5.</a:t>
            </a:r>
            <a:r>
              <a:rPr b="1" sz="1800"/>
              <a:t>Updated Burn Rate:</a:t>
            </a:r>
            <a:r>
              <a:rPr b="0" sz="1800"/>
              <a:t>€43,405 monthly for sustainable operations</a:t>
            </a:r>
          </a:p>
          <a:p>
            <a:pPr/>
            <a:r>
              <a:rPr b="0" sz="1800"/>
              <a:t>6.</a:t>
            </a:r>
            <a:r>
              <a:rPr b="1" sz="1800"/>
              <a:t>Reduced Runway:</a:t>
            </a:r>
            <a:r>
              <a:rPr b="0" sz="1800"/>
              <a:t>14.4 months due to expanded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